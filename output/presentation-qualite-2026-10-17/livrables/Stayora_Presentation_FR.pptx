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3d8fdaaa644950" /><Relationship Type="http://schemas.openxmlformats.org/officeDocument/2006/relationships/extended-properties" Target="/docProps/app.xml" Id="R585600cccc1a432a" /><Relationship Type="http://schemas.openxmlformats.org/officeDocument/2006/relationships/officeDocument" Target="/ppt/presentation.xml" Id="R6ff91a53c55248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11e74ee84b4319"/>
  </p:sldMasterIdLst>
  <p:notesMasterIdLst>
    <p:notesMasterId xmlns:r="http://schemas.openxmlformats.org/officeDocument/2006/relationships" r:id="R220b548466bd4c7c"/>
  </p:notesMasterIdLst>
  <p:sldIdLst>
    <p:sldId xmlns:r="http://schemas.openxmlformats.org/officeDocument/2006/relationships" id="256" r:id="Rc57d4deff8bc4399"/>
    <p:sldId xmlns:r="http://schemas.openxmlformats.org/officeDocument/2006/relationships" id="257" r:id="R9027c294f3bc4ee2"/>
    <p:sldId xmlns:r="http://schemas.openxmlformats.org/officeDocument/2006/relationships" id="258" r:id="R81811350abe54d18"/>
    <p:sldId xmlns:r="http://schemas.openxmlformats.org/officeDocument/2006/relationships" id="259" r:id="Re440c76b0e4b4642"/>
    <p:sldId xmlns:r="http://schemas.openxmlformats.org/officeDocument/2006/relationships" id="260" r:id="R579618c415174799"/>
    <p:sldId xmlns:r="http://schemas.openxmlformats.org/officeDocument/2006/relationships" id="261" r:id="R77776a5c71844759"/>
    <p:sldId xmlns:r="http://schemas.openxmlformats.org/officeDocument/2006/relationships" id="262" r:id="R59932d3e4ba546f6"/>
    <p:sldId xmlns:r="http://schemas.openxmlformats.org/officeDocument/2006/relationships" id="263" r:id="R38379f8ca1bb4a81"/>
    <p:sldId xmlns:r="http://schemas.openxmlformats.org/officeDocument/2006/relationships" id="264" r:id="R9e359fe172f5444c"/>
    <p:sldId xmlns:r="http://schemas.openxmlformats.org/officeDocument/2006/relationships" id="265" r:id="Re907d5facae44bc1"/>
    <p:sldId xmlns:r="http://schemas.openxmlformats.org/officeDocument/2006/relationships" id="266" r:id="Rb2dd88ed333a4e9f"/>
    <p:sldId xmlns:r="http://schemas.openxmlformats.org/officeDocument/2006/relationships" id="267" r:id="R90b043f2b394455a"/>
    <p:sldId xmlns:r="http://schemas.openxmlformats.org/officeDocument/2006/relationships" id="268" r:id="R3c3d55fe9a0e4057"/>
    <p:sldId xmlns:r="http://schemas.openxmlformats.org/officeDocument/2006/relationships" id="269" r:id="Rd8658187320b4df8"/>
    <p:sldId xmlns:r="http://schemas.openxmlformats.org/officeDocument/2006/relationships" id="270" r:id="R0e61d3ea6ce74f9a"/>
    <p:sldId xmlns:r="http://schemas.openxmlformats.org/officeDocument/2006/relationships" id="271" r:id="R90d9f481f7224a73"/>
    <p:sldId xmlns:r="http://schemas.openxmlformats.org/officeDocument/2006/relationships" id="272" r:id="Rdf27fcd508d543c1"/>
    <p:sldId xmlns:r="http://schemas.openxmlformats.org/officeDocument/2006/relationships" id="273" r:id="R42aba1df92be44d7"/>
    <p:sldId xmlns:r="http://schemas.openxmlformats.org/officeDocument/2006/relationships" id="274" r:id="R15902e52904d45db"/>
    <p:sldId xmlns:r="http://schemas.openxmlformats.org/officeDocument/2006/relationships" id="275" r:id="R7ef5dc39dccd4312"/>
    <p:sldId xmlns:r="http://schemas.openxmlformats.org/officeDocument/2006/relationships" id="276" r:id="R390733a6bfc74036"/>
    <p:sldId xmlns:r="http://schemas.openxmlformats.org/officeDocument/2006/relationships" id="277" r:id="R7dd40ce3ce3741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b7da566be4428f" /><Relationship Type="http://schemas.openxmlformats.org/officeDocument/2006/relationships/slideMaster" Target="/ppt/slideMasters/slideMaster1.xml" Id="R9211e74ee84b4319" /><Relationship Type="http://schemas.openxmlformats.org/officeDocument/2006/relationships/notesMaster" Target="/ppt/notesMasters/notesMaster1.xml" Id="R220b548466bd4c7c" /><Relationship Type="http://schemas.openxmlformats.org/officeDocument/2006/relationships/presProps" Target="/ppt/presProps.xml" Id="Ra79bdd07636a4719" /><Relationship Type="http://schemas.openxmlformats.org/officeDocument/2006/relationships/tableStyles" Target="/ppt/tableStyles.xml" Id="Ref90234a699b4a16" /><Relationship Type="http://schemas.openxmlformats.org/officeDocument/2006/relationships/slide" Target="/ppt/slides/slide1.xml" Id="Rc57d4deff8bc4399" /><Relationship Type="http://schemas.openxmlformats.org/officeDocument/2006/relationships/slide" Target="/ppt/slides/slide2.xml" Id="R9027c294f3bc4ee2" /><Relationship Type="http://schemas.openxmlformats.org/officeDocument/2006/relationships/slide" Target="/ppt/slides/slide3.xml" Id="R81811350abe54d18" /><Relationship Type="http://schemas.openxmlformats.org/officeDocument/2006/relationships/slide" Target="/ppt/slides/slide4.xml" Id="Re440c76b0e4b4642" /><Relationship Type="http://schemas.openxmlformats.org/officeDocument/2006/relationships/slide" Target="/ppt/slides/slide5.xml" Id="R579618c415174799" /><Relationship Type="http://schemas.openxmlformats.org/officeDocument/2006/relationships/slide" Target="/ppt/slides/slide6.xml" Id="R77776a5c71844759" /><Relationship Type="http://schemas.openxmlformats.org/officeDocument/2006/relationships/slide" Target="/ppt/slides/slide7.xml" Id="R59932d3e4ba546f6" /><Relationship Type="http://schemas.openxmlformats.org/officeDocument/2006/relationships/slide" Target="/ppt/slides/slide8.xml" Id="R38379f8ca1bb4a81" /><Relationship Type="http://schemas.openxmlformats.org/officeDocument/2006/relationships/slide" Target="/ppt/slides/slide9.xml" Id="R9e359fe172f5444c" /><Relationship Type="http://schemas.openxmlformats.org/officeDocument/2006/relationships/slide" Target="/ppt/slides/slide10.xml" Id="Re907d5facae44bc1" /><Relationship Type="http://schemas.openxmlformats.org/officeDocument/2006/relationships/slide" Target="/ppt/slides/slide11.xml" Id="Rb2dd88ed333a4e9f" /><Relationship Type="http://schemas.openxmlformats.org/officeDocument/2006/relationships/slide" Target="/ppt/slides/slide12.xml" Id="R90b043f2b394455a" /><Relationship Type="http://schemas.openxmlformats.org/officeDocument/2006/relationships/slide" Target="/ppt/slides/slide13.xml" Id="R3c3d55fe9a0e4057" /><Relationship Type="http://schemas.openxmlformats.org/officeDocument/2006/relationships/slide" Target="/ppt/slides/slide14.xml" Id="Rd8658187320b4df8" /><Relationship Type="http://schemas.openxmlformats.org/officeDocument/2006/relationships/slide" Target="/ppt/slides/slide15.xml" Id="R0e61d3ea6ce74f9a" /><Relationship Type="http://schemas.openxmlformats.org/officeDocument/2006/relationships/slide" Target="/ppt/slides/slide16.xml" Id="R90d9f481f7224a73" /><Relationship Type="http://schemas.openxmlformats.org/officeDocument/2006/relationships/slide" Target="/ppt/slides/slide17.xml" Id="Rdf27fcd508d543c1" /><Relationship Type="http://schemas.openxmlformats.org/officeDocument/2006/relationships/slide" Target="/ppt/slides/slide18.xml" Id="R42aba1df92be44d7" /><Relationship Type="http://schemas.openxmlformats.org/officeDocument/2006/relationships/slide" Target="/ppt/slides/slide19.xml" Id="R15902e52904d45db" /><Relationship Type="http://schemas.openxmlformats.org/officeDocument/2006/relationships/slide" Target="/ppt/slides/slide20.xml" Id="R7ef5dc39dccd4312" /><Relationship Type="http://schemas.openxmlformats.org/officeDocument/2006/relationships/slide" Target="/ppt/slides/slide21.xml" Id="R390733a6bfc74036" /><Relationship Type="http://schemas.openxmlformats.org/officeDocument/2006/relationships/slide" Target="/ppt/slides/slide22.xml" Id="R7dd40ce3ce3741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94582bf80946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2f3397b2084424" /><Relationship Type="http://schemas.openxmlformats.org/officeDocument/2006/relationships/notesMaster" Target="/ppt/notesMasters/notesMaster1.xml" Id="Rf17fe70cf45948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1d5885881549f2" /><Relationship Type="http://schemas.openxmlformats.org/officeDocument/2006/relationships/notesMaster" Target="/ppt/notesMasters/notesMaster1.xml" Id="Re3f87d0863e041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0607e4c9804f59" /><Relationship Type="http://schemas.openxmlformats.org/officeDocument/2006/relationships/notesMaster" Target="/ppt/notesMasters/notesMaster1.xml" Id="R18c05af7461743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a3290c91d341b3" /><Relationship Type="http://schemas.openxmlformats.org/officeDocument/2006/relationships/notesMaster" Target="/ppt/notesMasters/notesMaster1.xml" Id="R05ecbd4885314c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2a46a2c02b41fe" /><Relationship Type="http://schemas.openxmlformats.org/officeDocument/2006/relationships/notesMaster" Target="/ppt/notesMasters/notesMaster1.xml" Id="R650a7094e08f4d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4a748325aa4247" /><Relationship Type="http://schemas.openxmlformats.org/officeDocument/2006/relationships/notesMaster" Target="/ppt/notesMasters/notesMaster1.xml" Id="R8511ef8d055d4b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925e7e2eb84286" /><Relationship Type="http://schemas.openxmlformats.org/officeDocument/2006/relationships/notesMaster" Target="/ppt/notesMasters/notesMaster1.xml" Id="Rb4339f66d18949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e9dd08755641f7" /><Relationship Type="http://schemas.openxmlformats.org/officeDocument/2006/relationships/notesMaster" Target="/ppt/notesMasters/notesMaster1.xml" Id="Rb5423f81709f4c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ac80c1a5cc4d83" /><Relationship Type="http://schemas.openxmlformats.org/officeDocument/2006/relationships/notesMaster" Target="/ppt/notesMasters/notesMaster1.xml" Id="R7da8bc174ee348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62fda864a14c62" /><Relationship Type="http://schemas.openxmlformats.org/officeDocument/2006/relationships/notesMaster" Target="/ppt/notesMasters/notesMaster1.xml" Id="Rb6f7e89f089b49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358a70842643bd" /><Relationship Type="http://schemas.openxmlformats.org/officeDocument/2006/relationships/notesMaster" Target="/ppt/notesMasters/notesMaster1.xml" Id="R65622066352a46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05712e5a4a428f" /><Relationship Type="http://schemas.openxmlformats.org/officeDocument/2006/relationships/notesMaster" Target="/ppt/notesMasters/notesMaster1.xml" Id="R5975b9d2855949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7078f66a7e4498" /><Relationship Type="http://schemas.openxmlformats.org/officeDocument/2006/relationships/notesMaster" Target="/ppt/notesMasters/notesMaster1.xml" Id="Rc80ccc63968b4b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863ddb07e334bea" /><Relationship Type="http://schemas.openxmlformats.org/officeDocument/2006/relationships/notesMaster" Target="/ppt/notesMasters/notesMaster1.xml" Id="R213c8031bcc64f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4610c8eff174135" /><Relationship Type="http://schemas.openxmlformats.org/officeDocument/2006/relationships/notesMaster" Target="/ppt/notesMasters/notesMaster1.xml" Id="R7dad462e6dd6432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664285829b641cf" /><Relationship Type="http://schemas.openxmlformats.org/officeDocument/2006/relationships/notesMaster" Target="/ppt/notesMasters/notesMaster1.xml" Id="Rbdfaf6046bdf424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e0cb10d62754e3b" /><Relationship Type="http://schemas.openxmlformats.org/officeDocument/2006/relationships/notesMaster" Target="/ppt/notesMasters/notesMaster1.xml" Id="R0458411d8bb34b4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594f543a3fa497c" /><Relationship Type="http://schemas.openxmlformats.org/officeDocument/2006/relationships/notesMaster" Target="/ppt/notesMasters/notesMaster1.xml" Id="R7c605cc9bbf9428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edae65f3f3c4a60" /><Relationship Type="http://schemas.openxmlformats.org/officeDocument/2006/relationships/notesMaster" Target="/ppt/notesMasters/notesMaster1.xml" Id="Rcac6c2af726443c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fda82a3243c4410" /><Relationship Type="http://schemas.openxmlformats.org/officeDocument/2006/relationships/notesMaster" Target="/ppt/notesMasters/notesMaster1.xml" Id="R53212925463d40c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e19e34facf8443f" /><Relationship Type="http://schemas.openxmlformats.org/officeDocument/2006/relationships/notesMaster" Target="/ppt/notesMasters/notesMaster1.xml" Id="R1e1bc4f842c9406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b8793fe73224aa8" /><Relationship Type="http://schemas.openxmlformats.org/officeDocument/2006/relationships/notesMaster" Target="/ppt/notesMasters/notesMaster1.xml" Id="Red9f9ca7d68a4e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Capture réelle de la campagne Réservations du 17/10/2026. Sources : manifeste et preuves Xray. Révision d70949c283394b5c23d9b3271f5e8564a3a5aa8d. La présentation exclut les membres de l’équipe.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critères Jira STAY-22 à STAY-28, STAY-38, STAY-39, STAY-41 et manifeste de campagne du 17/10/2026.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Capture du tableau STAY, filtré sur les réservations. Aucun sprint terminé n’est revendiqué.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https://grp5sae9.atlassian.net/browse/STAY-22. Capture recadrée sur le ticket sans données de membre.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STAY-48. Le code 8492# est synthétique. Aucun fournisseur externe n’a été appelé.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Comparaison adaptée au besoin Stayora, sans essai expérimental de Trello. Sources officielles : https://www.atlassian.com/software/trello/trello-and-jira et https://www.atlassian.com/blog/trello/trello-vs-jira.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plan natif STAY-46, suite STAY-45 et campagne STAY-47. Révision d70949c283394b5c23d9b3271f5e8564a3a5aa8d.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STAY-45 et manifest.json. Les états Jira To Do des cas sont distincts des résultats des Test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Test Run de STAY-51 dans STAY-47. Actions manuelles réellement exécutées le 17/10/2026. Précondition native STAY-49.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STAY-47, résultat natif sauvegardé et manifeste. Les 39 tests frontend et 60 backend de npm run check sont complémentaires, non additionnés aux 73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Test Run FAILED de STAY-111 dans STAY-47, preuve API-061-resultat.json, défaut natif STAY-48. Aucun correctif ni retest de correctif.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panneaux natifs Test Coverage de STAY-22 et STAY-41, capturés le 17/10/2026. OK et NOK concernent le résultat de couverture, pas l’état Jira.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docs/testing-report/evidence/sonarqube.json, verification.json et capture tableau-de-bord.png. Snapshot historique sur arbre local non encore commité, pas une nouvelle analyse du 17/10. Outil : Community Build 26.9.0.129388.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SonarQube, instantané du 11/10/2026. 44 signalements distincts, un signalement peut concerner plusieurs qualités. Les 16 + 40 ne doivent pas être additionnés. Règle S8786 : expressions régulières à examiner.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SonarQube historique du 11/10/2026 et https://docs.sonarsource.com/sonarqube-community-build/user-guide/about-new-code. Le portail concerne le nouveau code. Couverture Java 85,4 %, Angular 37,9 %, total 67,1 % dans verification.json.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sortie JSON réelle, evidence/eslint-raw.json et eslint-execution.json. Node v22.23.3, ESLint 8.57.1. Rapport HTML local de lecture, pas interface native ESLint. Durée 3,054 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frontend/.eslintrc.json et docs/static-testing-2026-10-11/eslint-rapport.cjs, relancé le 17/10/2026. Exclut Java, SQL et validation métier à l’exécution.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exécution ESLint du 17/10/2026. Message original Unexpected console statement. Un message de démarrage fixe ne prouve pas une vulnérabilité. https://eslint.org/docs/latest/use/core-concepts/glossary et https://eslint.org/docs/latest/rules/no-console.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snapshots SonarQube du 11/10/2026 et ESLint du 17/10/2026. Dates et périmètres distincts, aucun classement numérique direct. https://www.sonarsource.com/resources/library/static-code-analysis-using-sonarqube/ et https://eslint.org/docs/latest/use/core-concepts/glossary.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campagne Xray du 17/10/2026 et rapports statiques. Xray gère et enregistre les scénarios, il ne remplace pas l’exécution réelle. La couverture affichée par SonarQube provient de tests dynamiques importés.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STAY-48, campagne STAY-47 et rapports SonarQube/ESLint. Aucun correctif réalisé pendant la campagne. La conformité complète du module ne peut pas être prononcée avec ce défaut ouvert.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Liens réels vérifiés dans Jira. L’accès anonyme n’est pas disponible dans les espaces gérés par équipe. Source : https://support.atlassian.com/jira-software-cloud/docs/next-gen-permissions/. Aucun réglage global ni migration de projet modifié.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cc5e4e40b54e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e5340419b942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911d310cc941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254b08b8ee43e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cc986074084b3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9776a457314f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BD0154-DC2D-4784-8D34-23DAA2E253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503575D-2CAF-4843-8B50-0CA6899FE09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0A81956-18E4-4CCC-A655-7C590FCF5B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8D4597-FB41-4B22-8505-10C5E798F2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6BA63AE-1707-4890-9232-1D7F794E82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636EAA-91DA-41D9-96AC-4C2C15547F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F5631E-CF22-4019-9E67-E2616670CA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5C286CB-A089-445F-8285-BACADBDEEF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FF8578-6C8D-4B22-B48F-571A396FD0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DB7B7A-039E-4FEE-8E29-8140708D34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8cccfbd30c42a8" /><Relationship Type="http://schemas.openxmlformats.org/officeDocument/2006/relationships/slideLayout" Target="/ppt/slideLayouts/slideLayout1.xml" Id="Rf1c62f0788214631" /><Relationship Type="http://schemas.openxmlformats.org/officeDocument/2006/relationships/slideLayout" Target="/ppt/slideLayouts/slideLayout2.xml" Id="R84949e5d90fc4b0f" /><Relationship Type="http://schemas.openxmlformats.org/officeDocument/2006/relationships/slideLayout" Target="/ppt/slideLayouts/slideLayout3.xml" Id="R81af7942d1194638" /><Relationship Type="http://schemas.openxmlformats.org/officeDocument/2006/relationships/slideLayout" Target="/ppt/slideLayouts/slideLayout4.xml" Id="R64dc6ae0c6204cc5" /><Relationship Type="http://schemas.openxmlformats.org/officeDocument/2006/relationships/slideLayout" Target="/ppt/slideLayouts/slideLayout5.xml" Id="R8051fabc1d3a47a9" /><Relationship Type="http://schemas.openxmlformats.org/officeDocument/2006/relationships/slideLayout" Target="/ppt/slideLayouts/slideLayout6.xml" Id="Rd5d16a675ec640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c62f0788214631"/>
    <p:sldLayoutId xmlns:r="http://schemas.openxmlformats.org/officeDocument/2006/relationships" id="2147483650" r:id="R84949e5d90fc4b0f"/>
    <p:sldLayoutId xmlns:r="http://schemas.openxmlformats.org/officeDocument/2006/relationships" id="2147483651" r:id="R81af7942d1194638"/>
    <p:sldLayoutId xmlns:r="http://schemas.openxmlformats.org/officeDocument/2006/relationships" id="2147483652" r:id="R64dc6ae0c6204cc5"/>
    <p:sldLayoutId xmlns:r="http://schemas.openxmlformats.org/officeDocument/2006/relationships" id="2147483653" r:id="R8051fabc1d3a47a9"/>
    <p:sldLayoutId xmlns:r="http://schemas.openxmlformats.org/officeDocument/2006/relationships" id="2147483654" r:id="Rd5d16a675ec640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aa0d55b67440f9" /><Relationship Type="http://schemas.openxmlformats.org/officeDocument/2006/relationships/image" Target="/ppt/media/image.jpeg" Id="R9c2735c3b5504d4a" /><Relationship Type="http://schemas.openxmlformats.org/officeDocument/2006/relationships/notesSlide" Target="/ppt/notesSlides/notesSlide1.xml" Id="R8ae59e05c0a64f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465eb48564f9e" /><Relationship Type="http://schemas.openxmlformats.org/officeDocument/2006/relationships/image" Target="/ppt/media/image2.jpeg" Id="Re44e9c43498b45c2" /><Relationship Type="http://schemas.openxmlformats.org/officeDocument/2006/relationships/notesSlide" Target="/ppt/notesSlides/notesSlide2.xml" Id="Rc8bf0a23134345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21e0a1adbb4807" /><Relationship Type="http://schemas.openxmlformats.org/officeDocument/2006/relationships/image" Target="/ppt/media/image3.jpeg" Id="Rf0336c09b99742b7" /><Relationship Type="http://schemas.openxmlformats.org/officeDocument/2006/relationships/hyperlink" Target="https://grp5sae9.atlassian.net/jira/software/projects/STAY/boards/35" TargetMode="External" Id="Rff8f411ee9024518" /><Relationship Type="http://schemas.openxmlformats.org/officeDocument/2006/relationships/notesSlide" Target="/ppt/notesSlides/notesSlide3.xml" Id="Rfdabfb0615b342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3c6d8a1f0347de" /><Relationship Type="http://schemas.openxmlformats.org/officeDocument/2006/relationships/image" Target="/ppt/media/image4.jpeg" Id="R63ca4ef20c754af1" /><Relationship Type="http://schemas.openxmlformats.org/officeDocument/2006/relationships/hyperlink" Target="https://grp5sae9.atlassian.net/browse/STAY-22" TargetMode="External" Id="R4db1c3fc486648ba" /><Relationship Type="http://schemas.openxmlformats.org/officeDocument/2006/relationships/notesSlide" Target="/ppt/notesSlides/notesSlide4.xml" Id="R5ac21fab887741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8413a8b55a4624" /><Relationship Type="http://schemas.openxmlformats.org/officeDocument/2006/relationships/image" Target="/ppt/media/image5.jpeg" Id="R90f85aa140c44a41" /><Relationship Type="http://schemas.openxmlformats.org/officeDocument/2006/relationships/hyperlink" Target="https://grp5sae9.atlassian.net/browse/STAY-48" TargetMode="External" Id="R089df8aacd6749da" /><Relationship Type="http://schemas.openxmlformats.org/officeDocument/2006/relationships/notesSlide" Target="/ppt/notesSlides/notesSlide5.xml" Id="R63fc1aa629d54f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96c11722d64a4c" /><Relationship Type="http://schemas.openxmlformats.org/officeDocument/2006/relationships/image" Target="/ppt/media/image6.jpeg" Id="R3cccd40b4c614e34" /><Relationship Type="http://schemas.openxmlformats.org/officeDocument/2006/relationships/hyperlink" Target="https://grp5sae9.atlassian.net/jira/software/projects/STAY/boards/35" TargetMode="External" Id="R73b9da9e687343c0" /><Relationship Type="http://schemas.openxmlformats.org/officeDocument/2006/relationships/notesSlide" Target="/ppt/notesSlides/notesSlide6.xml" Id="R03fbd0a6f5cf4b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8c58c80cb04792" /><Relationship Type="http://schemas.openxmlformats.org/officeDocument/2006/relationships/image" Target="/ppt/media/image7.jpeg" Id="R6934782d83334cb5" /><Relationship Type="http://schemas.openxmlformats.org/officeDocument/2006/relationships/hyperlink" Target="https://grp5sae9.atlassian.net/browse/STAY-46" TargetMode="External" Id="R2e7d7c9dc1ce4606" /><Relationship Type="http://schemas.openxmlformats.org/officeDocument/2006/relationships/notesSlide" Target="/ppt/notesSlides/notesSlide7.xml" Id="R122ba2e461974a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818f3b24514a3e" /><Relationship Type="http://schemas.openxmlformats.org/officeDocument/2006/relationships/image" Target="/ppt/media/image8.jpeg" Id="R5f6cda2101284200" /><Relationship Type="http://schemas.openxmlformats.org/officeDocument/2006/relationships/hyperlink" Target="https://grp5sae9.atlassian.net/browse/STAY-45" TargetMode="External" Id="Rd5077c5b1f6f4b1d" /><Relationship Type="http://schemas.openxmlformats.org/officeDocument/2006/relationships/notesSlide" Target="/ppt/notesSlides/notesSlide8.xml" Id="Rf4099626c36d45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957b25377842d5" /><Relationship Type="http://schemas.openxmlformats.org/officeDocument/2006/relationships/image" Target="/ppt/media/image9.jpeg" Id="R859b1bc8f8454aaa" /><Relationship Type="http://schemas.openxmlformats.org/officeDocument/2006/relationships/hyperlink" Target="https://grp5sae9.atlassian.net/browse/STAY-51" TargetMode="External" Id="Rc954b91baac14cfc" /><Relationship Type="http://schemas.openxmlformats.org/officeDocument/2006/relationships/notesSlide" Target="/ppt/notesSlides/notesSlide9.xml" Id="Rf25d5bcf9ff542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f9fd20147e4c5f" /><Relationship Type="http://schemas.openxmlformats.org/officeDocument/2006/relationships/image" Target="/ppt/media/image10.jpeg" Id="Rc18e1867b05b42c1" /><Relationship Type="http://schemas.openxmlformats.org/officeDocument/2006/relationships/hyperlink" Target="https://grp5sae9.atlassian.net/browse/STAY-47" TargetMode="External" Id="Rf729509354f44864" /><Relationship Type="http://schemas.openxmlformats.org/officeDocument/2006/relationships/notesSlide" Target="/ppt/notesSlides/notesSlide10.xml" Id="R118dfd8815374c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5b969d288b40f9" /><Relationship Type="http://schemas.openxmlformats.org/officeDocument/2006/relationships/image" Target="/ppt/media/image11.jpeg" Id="Rd3f12b72c4f64e7c" /><Relationship Type="http://schemas.openxmlformats.org/officeDocument/2006/relationships/hyperlink" Target="https://grp5sae9.atlassian.net/browse/STAY-111" TargetMode="External" Id="Rdfd8d5da574c436c" /><Relationship Type="http://schemas.openxmlformats.org/officeDocument/2006/relationships/notesSlide" Target="/ppt/notesSlides/notesSlide11.xml" Id="Rb23addb57c954d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da960b0b9d4425" /><Relationship Type="http://schemas.openxmlformats.org/officeDocument/2006/relationships/image" Target="/ppt/media/image12.jpeg" Id="Rd772f5901a144c47" /><Relationship Type="http://schemas.openxmlformats.org/officeDocument/2006/relationships/image" Target="/ppt/media/image13.jpeg" Id="R9b84a3388ecb4727" /><Relationship Type="http://schemas.openxmlformats.org/officeDocument/2006/relationships/hyperlink" Target="https://grp5sae9.atlassian.net/browse/STAY-41" TargetMode="External" Id="Rddabf1fe74f0431f" /><Relationship Type="http://schemas.openxmlformats.org/officeDocument/2006/relationships/notesSlide" Target="/ppt/notesSlides/notesSlide12.xml" Id="R9bc4d08a91eb475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19d345a0f94d86" /><Relationship Type="http://schemas.openxmlformats.org/officeDocument/2006/relationships/image" Target="/ppt/media/image.png" Id="R49e60b4e4db0496d" /><Relationship Type="http://schemas.openxmlformats.org/officeDocument/2006/relationships/notesSlide" Target="/ppt/notesSlides/notesSlide13.xml" Id="R7191b62844f3453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e5d6afa95d4394" /><Relationship Type="http://schemas.openxmlformats.org/officeDocument/2006/relationships/image" Target="/ppt/media/image2.png" Id="R7a27ab26d7804c80" /><Relationship Type="http://schemas.openxmlformats.org/officeDocument/2006/relationships/notesSlide" Target="/ppt/notesSlides/notesSlide14.xml" Id="Ra122a54d2bd7456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d1920822774626" /><Relationship Type="http://schemas.openxmlformats.org/officeDocument/2006/relationships/image" Target="/ppt/media/image3.png" Id="R806848279e074031" /><Relationship Type="http://schemas.openxmlformats.org/officeDocument/2006/relationships/notesSlide" Target="/ppt/notesSlides/notesSlide15.xml" Id="Ra3e78597e436448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0ba05ee5604345" /><Relationship Type="http://schemas.openxmlformats.org/officeDocument/2006/relationships/image" Target="/ppt/media/image14.jpeg" Id="R08281d373e564d0f" /><Relationship Type="http://schemas.openxmlformats.org/officeDocument/2006/relationships/notesSlide" Target="/ppt/notesSlides/notesSlide16.xml" Id="R798876d70d1f410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30e2cfc97248ce" /><Relationship Type="http://schemas.openxmlformats.org/officeDocument/2006/relationships/image" Target="/ppt/media/image15.jpeg" Id="Rc5551a0d10c1403d" /><Relationship Type="http://schemas.openxmlformats.org/officeDocument/2006/relationships/notesSlide" Target="/ppt/notesSlides/notesSlide17.xml" Id="R554cd3da65614f0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f9af93d7784cad" /><Relationship Type="http://schemas.openxmlformats.org/officeDocument/2006/relationships/image" Target="/ppt/media/image16.jpeg" Id="Rbe2f1a0308734337" /><Relationship Type="http://schemas.openxmlformats.org/officeDocument/2006/relationships/notesSlide" Target="/ppt/notesSlides/notesSlide18.xml" Id="R3f50763145cc435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6c7ca8a7354882" /><Relationship Type="http://schemas.openxmlformats.org/officeDocument/2006/relationships/image" Target="/ppt/media/image4.png" Id="R1ccf1822b9d94638" /><Relationship Type="http://schemas.openxmlformats.org/officeDocument/2006/relationships/image" Target="/ppt/media/image17.jpeg" Id="Rae2a3f80c29b4f9e" /><Relationship Type="http://schemas.openxmlformats.org/officeDocument/2006/relationships/notesSlide" Target="/ppt/notesSlides/notesSlide19.xml" Id="Re8b0d8fc0dd247e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6864bd498446d4" /><Relationship Type="http://schemas.openxmlformats.org/officeDocument/2006/relationships/image" Target="/ppt/media/image18.jpeg" Id="R21c882aab32f4dd4" /><Relationship Type="http://schemas.openxmlformats.org/officeDocument/2006/relationships/image" Target="/ppt/media/image19.jpeg" Id="Rcb5db23f44b04d14" /><Relationship Type="http://schemas.openxmlformats.org/officeDocument/2006/relationships/notesSlide" Target="/ppt/notesSlides/notesSlide20.xml" Id="Rdd839940ca2041f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b7b58e3fb4410c" /><Relationship Type="http://schemas.openxmlformats.org/officeDocument/2006/relationships/image" Target="/ppt/media/image20.jpeg" Id="R45be14a41c1d4a7d" /><Relationship Type="http://schemas.openxmlformats.org/officeDocument/2006/relationships/hyperlink" Target="https://grp5sae9.atlassian.net/browse/STAY-48" TargetMode="External" Id="R193ff71fed374508" /><Relationship Type="http://schemas.openxmlformats.org/officeDocument/2006/relationships/notesSlide" Target="/ppt/notesSlides/notesSlide21.xml" Id="R8b988b51ff2f4c6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e01415df3c4155" /><Relationship Type="http://schemas.openxmlformats.org/officeDocument/2006/relationships/hyperlink" Target="https://grp5sae9.atlassian.net/jira/software/projects/STAY/boards/35" TargetMode="External" Id="Rfda2cfff46904d08" /><Relationship Type="http://schemas.openxmlformats.org/officeDocument/2006/relationships/hyperlink" Target="https://grp5sae9.atlassian.net/projects/STAY?selectedItem=com.atlassian.plugins.atlassian-connect-plugin%3Acom.xpandit.plugins.xray__testing-board" TargetMode="External" Id="R7aa61719a8214ce8" /><Relationship Type="http://schemas.openxmlformats.org/officeDocument/2006/relationships/hyperlink" Target="https://grp5sae9.atlassian.net/browse/STAY-46" TargetMode="External" Id="Ra3fc29d198df46e4" /><Relationship Type="http://schemas.openxmlformats.org/officeDocument/2006/relationships/hyperlink" Target="https://grp5sae9.atlassian.net/browse/STAY-45" TargetMode="External" Id="R6488ed0b55294eac" /><Relationship Type="http://schemas.openxmlformats.org/officeDocument/2006/relationships/hyperlink" Target="https://grp5sae9.atlassian.net/browse/STAY-47" TargetMode="External" Id="Rc79b1208ddaa400d" /><Relationship Type="http://schemas.openxmlformats.org/officeDocument/2006/relationships/image" Target="/ppt/media/image21.jpeg" Id="R32e17e2d11634e5c" /><Relationship Type="http://schemas.openxmlformats.org/officeDocument/2006/relationships/notesSlide" Target="/ppt/notesSlides/notesSlide22.xml" Id="Rcbc4cafc61e749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D6722-BD7A-4395-9943-05C8919F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STAYORA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EB930-E014-4184-A5CD-93903D8A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542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Test et validation</a:t>
            </a:r>
          </a:p>
          <a:p xmlns:a="http://schemas.openxmlformats.org/drawingml/2006/main">
            <a:pPr>
              <a:defRPr sz="4950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des logiciels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10047-E5EF-4287-A073-6E68595E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617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B46"/>
                </a:solidFill>
                <a:latin typeface="Arial"/>
                <a:ea typeface="Arial"/>
                <a:cs typeface="Arial"/>
              </a:rPr>
              <a:t>Jira, Xray, SonarQube et ESLint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52FC7-2DAD-48EB-A730-0F6B3E30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48275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Module Réservations</a:t>
            </a:r>
          </a:p>
          <a:p xmlns:a="http://schemas.openxmlformats.org/drawingml/2006/main">
            <a:pPr>
              <a:defRPr sz="16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Présentation en français · octobre 2026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C4933-932A-496A-94A8-C2DD622F28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735c3b5504d4a"/>
          <a:stretch xmlns:a="http://schemas.openxmlformats.org/drawingml/2006/main"/>
        </p:blipFill>
        <p:spPr>
          <a:xfrm xmlns:a="http://schemas.openxmlformats.org/drawingml/2006/main">
            <a:off x="6400800" y="1582143"/>
            <a:ext cx="5276850" cy="321746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7549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A374B-9342-472E-88D2-C29F2C04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DÉMARCHE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32D83-4614-42E8-82B6-5E1E3B04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Périmètre et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EA14E-ECF6-4A9A-A3FB-05077340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FC481-1158-4F10-9408-8B2C88D9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4381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01  Jira</a:t>
            </a:r>
          </a:p>
          <a:p xmlns:a="http://schemas.openxmlformats.org/drawingml/2006/main">
            <a:pPr>
              <a:defRPr sz="2850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02  Xray</a:t>
            </a:r>
          </a:p>
          <a:p xmlns:a="http://schemas.openxmlformats.org/drawingml/2006/main">
            <a:pPr>
              <a:defRPr sz="2850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03  SonarQube</a:t>
            </a:r>
          </a:p>
          <a:p xmlns:a="http://schemas.openxmlformats.org/drawingml/2006/main">
            <a:pPr>
              <a:defRPr sz="2850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04  ESLint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47628-A0DF-4139-AE4F-8C4A2277B0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e9c43498b45c2"/>
          <a:stretch xmlns:a="http://schemas.openxmlformats.org/drawingml/2006/main"/>
        </p:blipFill>
        <p:spPr>
          <a:xfrm xmlns:a="http://schemas.openxmlformats.org/drawingml/2006/main">
            <a:off x="5451038" y="1524000"/>
            <a:ext cx="6014324" cy="3667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65D0D-DF59-4894-8A92-8B9C7282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Devis, réservation, reçu simulé, annulation, droits d’accès et conseil IA</a:t>
            </a:r>
          </a:p>
        </p:txBody>
      </p:sp>
    </p:spTree>
    <p:extLst>
      <p:ext uri="{BB962C8B-B14F-4D97-AF65-F5344CB8AC3E}">
        <p14:creationId xmlns:p14="http://schemas.microsoft.com/office/powerpoint/2010/main" val="3094566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B9F39-494E-4E08-BB09-6D407FDF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EXIGENCES ET SUIVI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FB53E-02EB-4D88-9823-582B5583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01  Jira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83E09-8BC1-4BE6-9D5A-AD240514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1E499-C379-485B-BE7A-758DC75197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36c09b99742b7"/>
          <a:stretch xmlns:a="http://schemas.openxmlformats.org/drawingml/2006/main"/>
        </p:blipFill>
        <p:spPr>
          <a:xfrm xmlns:a="http://schemas.openxmlformats.org/drawingml/2006/main">
            <a:off x="1306912" y="1381125"/>
            <a:ext cx="9578176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7E519-75E8-40D9-9B30-529115A0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Backlog initial : 5 Epics et 39 Stories. Les exigences restent To 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866B1-3CF7-4FB9-94D6-23DC6B11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ff8f411ee9024518"/>
              </a:rPr>
              <a:t>Ouvrir le tableau Jira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15636923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80DC5-8DA8-455F-993D-2D0C4E63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JIRA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22881-9D49-4727-8FF4-9977E475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Critères d’acceptation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F9596-0D9E-4799-B98A-897027F0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B39EF-E55E-41AE-A30A-823BCEBE29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a4ef20c754af1"/>
          <a:srcRect xmlns:a="http://schemas.openxmlformats.org/drawingml/2006/main" l="0" t="7000" r="38000" b="2000"/>
          <a:stretch xmlns:a="http://schemas.openxmlformats.org/drawingml/2006/main"/>
        </p:blipFill>
        <p:spPr>
          <a:xfrm xmlns:a="http://schemas.openxmlformats.org/drawingml/2006/main">
            <a:off x="2833105" y="1381125"/>
            <a:ext cx="6525790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ECC4F-9977-415F-A2CE-6715AE6A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STAY-22 : durée, capacité, disponibilité et calcul du prix côté serveur.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1C645-20B1-4AB5-8584-17B0A3D8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4db1c3fc486648ba"/>
              </a:rPr>
              <a:t>Ouvrir l’exigence STAY-22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16969669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A4D04-9CC3-4BB4-8455-45578CF8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JIRA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EA44F-59FE-4716-BAED-684176E1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Traçabilité d’une anomalie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9AFDC-94AA-4BD8-AB52-A7B5BC42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D9EF9-6195-47D4-9506-AC3B77245E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85aa140c44a41"/>
          <a:stretch xmlns:a="http://schemas.openxmlformats.org/drawingml/2006/main"/>
        </p:blipFill>
        <p:spPr>
          <a:xfrm xmlns:a="http://schemas.openxmlformats.org/drawingml/2006/main">
            <a:off x="2606863" y="1381125"/>
            <a:ext cx="6978273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FA59C-84A1-4B72-A90C-7E874F20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STAY-48 : reproduction, attendu, constat et impact du défaut de confidentialité.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98BF8-A34B-4EE1-BC2C-BC1A5914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089df8aacd6749da"/>
              </a:rPr>
              <a:t>Ouvrir le défaut STAY-48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20112480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FCABC-C706-4D7D-B09D-754C60D8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ÉTUDE COMPARATIVE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DBA1C-3F60-4BEA-B6FE-2BE812FF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Jira et Trello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DE300-702A-480A-BFC8-D275E06D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1DCD2-9261-4B52-AD17-FBE0055358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cd40b4c614e34"/>
          <a:stretch xmlns:a="http://schemas.openxmlformats.org/drawingml/2006/main"/>
        </p:blipFill>
        <p:spPr>
          <a:xfrm xmlns:a="http://schemas.openxmlformats.org/drawingml/2006/main">
            <a:off x="514350" y="2657760"/>
            <a:ext cx="3619500" cy="1637729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40E75-3D9C-4DC4-BE3B-525AAF28CD87}"/>
              </a:ext>
            </a:extLst>
          </p:cNvPr>
          <p:cNvGraphicFramePr/>
          <p:nvPr/>
        </p:nvGraphicFramePr>
        <p:xfrm>
          <a:off xmlns:a="http://schemas.openxmlformats.org/drawingml/2006/main" x="4429125" y="1666875"/>
          <a:ext xmlns:a="http://schemas.openxmlformats.org/drawingml/2006/main" cx="7239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667000"/>
                <a:gridCol w="2762250"/>
              </a:tblGrid>
              <a:tr h="785813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Critère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T w="9525">
                      <a:solidFill>
                        <a:srgbClr val="C8D3CD"/>
                      </a:solidFill>
                      <a:prstDash val="solid"/>
                    </a:lnT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153B4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Jira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T w="9525">
                      <a:solidFill>
                        <a:srgbClr val="C8D3CD"/>
                      </a:solidFill>
                      <a:prstDash val="solid"/>
                    </a:lnT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153B4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Trello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T w="9525">
                      <a:solidFill>
                        <a:srgbClr val="C8D3CD"/>
                      </a:solidFill>
                      <a:prstDash val="solid"/>
                    </a:lnT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153B46"/>
                    </a:solidFill>
                  </a:tcPr>
                </a:tc>
              </a:tr>
              <a:tr h="785813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Organisation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Tickets et hiérarchie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Cartes et listes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Usage ici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Exigences et anomalies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Organisation visuelle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</a:tr>
              <a:tr h="785813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Tests Stayora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Liens natifs Xray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Intégration à prévoir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55E44-A001-4C9C-BB97-C9DD2F9F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Choix pour Stayora : Jira conserve les liens entre exigences, tests et défauts.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B6336-8B4B-4DF2-83AF-EEFB10AA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73b9da9e687343c0"/>
              </a:rPr>
              <a:t>Tableau Jira de la démonstration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365033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9B95B-0342-4E21-B8E7-11A9EA25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PLAN DU MODULE RÉSERVATIONS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B2CE1-0D83-48AA-B227-0C308CB5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02  Xray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E87C6-A971-44D7-9DB3-29BF3C09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77028-5DD2-48BA-928F-0B1060E3ED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4782d83334cb5"/>
          <a:stretch xmlns:a="http://schemas.openxmlformats.org/drawingml/2006/main"/>
        </p:blipFill>
        <p:spPr>
          <a:xfrm xmlns:a="http://schemas.openxmlformats.org/drawingml/2006/main">
            <a:off x="2606863" y="1381125"/>
            <a:ext cx="6978273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F268E-B699-4705-B7E2-663CC147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STAY-46 : périmètre, environnement isolé et critères de sortie.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F6D55-B14D-45FE-B250-0D50BDFC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2e7d7c9dc1ce4606"/>
              </a:rPr>
              <a:t>Ouvrir le plan Xray STAY-46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8247374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82B6D-E457-46C9-9160-062AABEC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XRAY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95B34-9281-4CA7-840E-4FEB75C0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Suite de 73 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A0AB9-89FA-41B1-98DA-1A0581A4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6C904-99D6-4AE4-B302-DC190D6C79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cda2101284200"/>
          <a:stretch xmlns:a="http://schemas.openxmlformats.org/drawingml/2006/main"/>
        </p:blipFill>
        <p:spPr>
          <a:xfrm xmlns:a="http://schemas.openxmlformats.org/drawingml/2006/main">
            <a:off x="2606863" y="1381125"/>
            <a:ext cx="6978273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1D580-3B67-4D04-A636-B50C1670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61 cas automatisés HTTP/SQL et 12 parcours manuels Chrome.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A7C75-AF20-4E47-A386-E3830098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d5077c5b1f6f4b1d"/>
              </a:rPr>
              <a:t>Ouvrir la suite Xray STAY-45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6928123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D5113-2F3B-468B-B27B-3B82D31E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XRAY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9A5C4-1A82-4DE5-B4D5-A595C401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Étape manuelle, attendu et 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3F12D-1348-44B1-ADE0-CC9CE2E5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475DD-044E-4DB3-947B-AE685F8D8F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b1bc8f8454aaa"/>
          <a:stretch xmlns:a="http://schemas.openxmlformats.org/drawingml/2006/main"/>
        </p:blipFill>
        <p:spPr>
          <a:xfrm xmlns:a="http://schemas.openxmlformats.org/drawingml/2006/main">
            <a:off x="887211" y="1381125"/>
            <a:ext cx="10417577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F1B2E-C559-4B0E-84DF-F4F7F1E1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STAY-51 / UI-001 : devis de trois nuits à 540.000 TND, étape PASSED.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A7A1F-F4BB-4DBA-95C2-AFA3BFEC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c954b91baac14cfc"/>
              </a:rPr>
              <a:t>Ouvrir le cas manuel STAY-51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12356594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D89D0-7E08-453D-9419-DD203165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XRAY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95986-B753-4509-970B-A495BDC5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72 tests réussis, 1 test échoué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B87A7-424D-4EB1-BAD4-A6B0E50F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7FC5D-FCF6-424C-B3CB-48B21ED07E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e1867b05b42c1"/>
          <a:stretch xmlns:a="http://schemas.openxmlformats.org/drawingml/2006/main"/>
        </p:blipFill>
        <p:spPr>
          <a:xfrm xmlns:a="http://schemas.openxmlformats.org/drawingml/2006/main">
            <a:off x="2606863" y="1381125"/>
            <a:ext cx="6978273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ACCF4-DC83-4211-9777-98F148BF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73 exécutés, aucun bloqué et aucun non exécuté. Taux de réussite : 98,63 %.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5B040-9E6A-45B8-B6E0-A9C47693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f729509354f44864"/>
              </a:rPr>
              <a:t>Ouvrir l’exécution Xray STAY-47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15013011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A4814-ECC0-42BC-806D-3C0C105E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XRAY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3CB46-1A55-40D1-A46E-A09ABF51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Un échec relié à son défaut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3243F-1BCE-4D87-936B-4062BF8D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FFA2A-8A9C-4527-8FF9-5FF977B9C9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12b72c4f64e7c"/>
          <a:srcRect xmlns:a="http://schemas.openxmlformats.org/drawingml/2006/main" l="0" t="25000" r="0" b="0"/>
          <a:stretch xmlns:a="http://schemas.openxmlformats.org/drawingml/2006/main"/>
        </p:blipFill>
        <p:spPr>
          <a:xfrm xmlns:a="http://schemas.openxmlformats.org/drawingml/2006/main">
            <a:off x="514350" y="1806522"/>
            <a:ext cx="11163300" cy="348308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FBDEB-FF0D-41AE-979F-11D762E2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API-061 / STAY-111 : le nombre 8492 persiste dans les faits 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1085D-46F3-4511-8170-3A421244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dfd8d5da574c436c"/>
              </a:rPr>
              <a:t>Ouvrir le test en échec STAY-111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19568014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CB2BA-1AAF-4817-9DD7-0A0374B1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XRAY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B98E2-9EAB-4CCC-8402-9B488396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Couverture et conformité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334E9-774C-4AF2-BC39-52996746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F70E7-C18B-41F8-A9DF-EC72EFE40B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2f5901a144c47"/>
          <a:srcRect xmlns:a="http://schemas.openxmlformats.org/drawingml/2006/main" l="0" t="30000" r="38000" b="0"/>
          <a:stretch xmlns:a="http://schemas.openxmlformats.org/drawingml/2006/main"/>
        </p:blipFill>
        <p:spPr>
          <a:xfrm xmlns:a="http://schemas.openxmlformats.org/drawingml/2006/main">
            <a:off x="514350" y="2126332"/>
            <a:ext cx="5286375" cy="270058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BE200-FF2F-479B-99CC-419D01F4CC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4a3388ecb4727"/>
          <a:stretch xmlns:a="http://schemas.openxmlformats.org/drawingml/2006/main"/>
        </p:blipFill>
        <p:spPr>
          <a:xfrm xmlns:a="http://schemas.openxmlformats.org/drawingml/2006/main">
            <a:off x="6381750" y="1865367"/>
            <a:ext cx="5286375" cy="322251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58120-28F2-40F2-AF78-514D7FAF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10200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STAY-22 : 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4D93D-22A9-45F9-A67C-ED05863B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10200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A86D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A86D2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86D21"/>
                </a:solidFill>
                <a:latin typeface="Arial"/>
                <a:ea typeface="Arial"/>
                <a:cs typeface="Arial"/>
              </a:rPr>
              <a:t>STAY-41 : NOK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3D683-649F-4A3D-BAF2-EA037E9D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Une exigence couverte peut conserver un échec. STAY-48 reste ouvert.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00ABC-38E9-435E-B112-F29A2DA7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ddabf1fe74f0431f"/>
              </a:rPr>
              <a:t>Consulter la couverture de STAY-41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20857494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0438D-D7EF-439B-B0CF-A1F7FCAC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ANALYSE STATIQUE DU PROJET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9F215-5FEF-4B00-8DD3-0ED1AAE4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03  SonarQube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07C4C-14A2-40A8-BE93-0546D9B1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D5F12-41DE-48F7-8B12-51642DB52E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60b4e4db0496d"/>
          <a:stretch xmlns:a="http://schemas.openxmlformats.org/drawingml/2006/main"/>
        </p:blipFill>
        <p:spPr>
          <a:xfrm xmlns:a="http://schemas.openxmlformats.org/drawingml/2006/main">
            <a:off x="2540000" y="1381125"/>
            <a:ext cx="7112000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5BDC8-FB9A-410A-87A6-3914C693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Instantané du 11/10/2026 : couverture globale 67,1 %, duplication 0,4 %.</a:t>
            </a:r>
          </a:p>
        </p:txBody>
      </p:sp>
    </p:spTree>
    <p:extLst>
      <p:ext uri="{BB962C8B-B14F-4D97-AF65-F5344CB8AC3E}">
        <p14:creationId xmlns:p14="http://schemas.microsoft.com/office/powerpoint/2010/main" val="20308850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60E0A-E008-43A8-8EF0-4684ABCF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SONARQUBE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2B077-E208-42E4-BC77-DDDBFD86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44 signalements ouverts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A513F-B857-47CE-815D-BAF7FA45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7DC08-D5CB-4150-982E-D9B4A91377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7ab26d7804c80"/>
          <a:stretch xmlns:a="http://schemas.openxmlformats.org/drawingml/2006/main"/>
        </p:blipFill>
        <p:spPr>
          <a:xfrm xmlns:a="http://schemas.openxmlformats.org/drawingml/2006/main">
            <a:off x="2266754" y="1381125"/>
            <a:ext cx="7658491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B8D2E-09C4-4881-9A09-109E8B2F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Fiabilité C : 16 signalements. Maintenabilité A : 40 signalements.</a:t>
            </a:r>
          </a:p>
        </p:txBody>
      </p:sp>
    </p:spTree>
    <p:extLst>
      <p:ext uri="{BB962C8B-B14F-4D97-AF65-F5344CB8AC3E}">
        <p14:creationId xmlns:p14="http://schemas.microsoft.com/office/powerpoint/2010/main" val="12191161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5E00C-37C6-481B-90AC-EB5D3E0B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SONARQUBE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DB4A6-D185-47CE-B23F-4A63AE10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Portail validé et qualité globale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73930-1495-4ABA-A6C5-6C7548FF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A0A52-DBB2-4413-BA2F-5702142159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848279e074031"/>
          <a:stretch xmlns:a="http://schemas.openxmlformats.org/drawingml/2006/main"/>
        </p:blipFill>
        <p:spPr>
          <a:xfrm xmlns:a="http://schemas.openxmlformats.org/drawingml/2006/main">
            <a:off x="4833815" y="1514475"/>
            <a:ext cx="6486769" cy="3952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53D46-4788-42C9-A407-F9E88E37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3524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Portail du nouveau code</a:t>
            </a:r>
          </a:p>
          <a:p xmlns:a="http://schemas.openxmlformats.org/drawingml/2006/main">
            <a:pPr>
              <a:defRPr sz="2100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Validé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AC6EA-E48E-4AD8-B863-5828B8C9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3524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B46"/>
                </a:solidFill>
                <a:latin typeface="Arial"/>
                <a:ea typeface="Arial"/>
                <a:cs typeface="Arial"/>
              </a:rPr>
              <a:t>Couverture mesurée</a:t>
            </a:r>
          </a:p>
          <a:p xmlns:a="http://schemas.openxmlformats.org/drawingml/2006/main">
            <a: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B46"/>
                </a:solidFill>
                <a:latin typeface="Arial"/>
                <a:ea typeface="Arial"/>
                <a:cs typeface="Arial"/>
              </a:rPr>
              <a:t>Java 85,4 %</a:t>
            </a:r>
          </a:p>
          <a:p xmlns:a="http://schemas.openxmlformats.org/drawingml/2006/main">
            <a: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B46"/>
                </a:solidFill>
                <a:latin typeface="Arial"/>
                <a:ea typeface="Arial"/>
                <a:cs typeface="Arial"/>
              </a:rPr>
              <a:t>Angular 37,9 %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E52DA-F1BE-49A1-932F-FFE42F88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Le portail validé coexiste avec les 44 signalements globaux ouverts.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FBBE5-E194-4A17-9348-DE814185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Analyse historique du 11 octobre 2026</a:t>
            </a:r>
          </a:p>
        </p:txBody>
      </p:sp>
    </p:spTree>
    <p:extLst>
      <p:ext uri="{BB962C8B-B14F-4D97-AF65-F5344CB8AC3E}">
        <p14:creationId xmlns:p14="http://schemas.microsoft.com/office/powerpoint/2010/main" val="13211251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7E7CD-2B62-4914-B696-D77B062E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CONTRÔLE STATIQUE DU FRONTAL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33FF2-F1AD-42F4-BFE3-868F67A6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04  ESLint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1966A-412B-4D9D-881F-84C94AAE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D9773-16EE-4041-A1D0-F4774382D1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81d373e564d0f"/>
          <a:stretch xmlns:a="http://schemas.openxmlformats.org/drawingml/2006/main"/>
        </p:blipFill>
        <p:spPr>
          <a:xfrm xmlns:a="http://schemas.openxmlformats.org/drawingml/2006/main">
            <a:off x="889188" y="1381125"/>
            <a:ext cx="10413624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90BAE-8E20-4B5E-8C66-E4B4F5A9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17/10/2026 : 59 fichiers, 0 erreur, 1 avertissement. Code de sortie 0.</a:t>
            </a:r>
          </a:p>
        </p:txBody>
      </p:sp>
    </p:spTree>
    <p:extLst>
      <p:ext uri="{BB962C8B-B14F-4D97-AF65-F5344CB8AC3E}">
        <p14:creationId xmlns:p14="http://schemas.microsoft.com/office/powerpoint/2010/main" val="4123389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44C84-A22B-4AE0-80E3-627D6137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ESLINT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A25F3-319F-4397-8340-24022125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Configuration et périmètre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1FB05-EA14-4220-9494-E8A7B9B8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9476B-7C5C-4BF2-A195-7B253FA46F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51a0d10c1403d"/>
          <a:stretch xmlns:a="http://schemas.openxmlformats.org/drawingml/2006/main"/>
        </p:blipFill>
        <p:spPr>
          <a:xfrm xmlns:a="http://schemas.openxmlformats.org/drawingml/2006/main">
            <a:off x="889188" y="1381125"/>
            <a:ext cx="10413624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BA574-6E82-44AB-8651-BD870189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TypeScript et HTML Angular. Configuration de rapport, sans --fix.</a:t>
            </a:r>
          </a:p>
        </p:txBody>
      </p:sp>
    </p:spTree>
    <p:extLst>
      <p:ext uri="{BB962C8B-B14F-4D97-AF65-F5344CB8AC3E}">
        <p14:creationId xmlns:p14="http://schemas.microsoft.com/office/powerpoint/2010/main" val="1779266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8EB23-CC25-4CCB-9B75-24B2CDD3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ESLINT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080F3-5F54-4C19-9D75-BB5C537C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Un avertissement de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B88CF-EBE0-415B-89DF-3DFCE911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9830B-B1C4-43BD-9B0A-24261F3E72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f1a0308734337"/>
          <a:stretch xmlns:a="http://schemas.openxmlformats.org/drawingml/2006/main"/>
        </p:blipFill>
        <p:spPr>
          <a:xfrm xmlns:a="http://schemas.openxmlformats.org/drawingml/2006/main">
            <a:off x="889188" y="1381125"/>
            <a:ext cx="10413624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1F888-D8F7-4FD1-8EFB-B0053039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no-console, frontend/src/main.ts:20:16. Aucun correctif appliqué.</a:t>
            </a:r>
          </a:p>
        </p:txBody>
      </p:sp>
    </p:spTree>
    <p:extLst>
      <p:ext uri="{BB962C8B-B14F-4D97-AF65-F5344CB8AC3E}">
        <p14:creationId xmlns:p14="http://schemas.microsoft.com/office/powerpoint/2010/main" val="500454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4DD04-F211-4CF9-9552-07CB2911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ÉTUDE COMPARATIVE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FCEF0-79F4-49E5-B9E9-0BBDEF65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SonarQube et ESLint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CB8D4-E06E-446B-86E9-959E7F76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9CB9C-C108-40C1-B0C9-583F552775BC}"/>
              </a:ext>
            </a:extLst>
          </p:cNvPr>
          <p:cNvGraphicFramePr/>
          <p:nvPr/>
        </p:nvGraphicFramePr>
        <p:xfrm>
          <a:off xmlns:a="http://schemas.openxmlformats.org/drawingml/2006/main" x="514350" y="1543050"/>
          <a:ext xmlns:a="http://schemas.openxmlformats.org/drawingml/2006/main" cx="111633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438650"/>
                <a:gridCol w="4438650"/>
              </a:tblGrid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Critère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T w="9525">
                      <a:solidFill>
                        <a:srgbClr val="C8D3CD"/>
                      </a:solidFill>
                      <a:prstDash val="solid"/>
                    </a:lnT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153B4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SonarQube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T w="9525">
                      <a:solidFill>
                        <a:srgbClr val="C8D3CD"/>
                      </a:solidFill>
                      <a:prstDash val="solid"/>
                    </a:lnT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153B4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ESLint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T w="9525">
                      <a:solidFill>
                        <a:srgbClr val="C8D3CD"/>
                      </a:solidFill>
                      <a:prstDash val="solid"/>
                    </a:lnT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153B46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Périmètre observé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Java et frontal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TypeScript et HTML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Résultat principal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Signalements et couverture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Règles et localisations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Lecture utile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Suivi global de qualité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Retour local précis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Complémentarité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Vue de projet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Contrôle du frontal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</a:tr>
            </a:tbl>
          </a:graphicData>
        </a:graphic>
      </p:graphicFrame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34DB3-062B-4DCD-AB1C-264E281378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f1822b9d94638"/>
          <a:stretch xmlns:a="http://schemas.openxmlformats.org/drawingml/2006/main"/>
        </p:blipFill>
        <p:spPr>
          <a:xfrm xmlns:a="http://schemas.openxmlformats.org/drawingml/2006/main">
            <a:off x="2147627" y="4648200"/>
            <a:ext cx="2019822" cy="1143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00C7D-A8DB-4C4E-8710-57A2A1AA94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a3f80c29b4f9e"/>
          <a:stretch xmlns:a="http://schemas.openxmlformats.org/drawingml/2006/main"/>
        </p:blipFill>
        <p:spPr>
          <a:xfrm xmlns:a="http://schemas.openxmlformats.org/drawingml/2006/main">
            <a:off x="7651712" y="4648200"/>
            <a:ext cx="2746450" cy="1143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E0158-EF7D-4E96-A2B1-8450C702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Les nombres de constats ne sont pas comparables entre ces deux périmètres.</a:t>
            </a:r>
          </a:p>
        </p:txBody>
      </p:sp>
    </p:spTree>
    <p:extLst>
      <p:ext uri="{BB962C8B-B14F-4D97-AF65-F5344CB8AC3E}">
        <p14:creationId xmlns:p14="http://schemas.microsoft.com/office/powerpoint/2010/main" val="912942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3EB11-BCA8-45E9-B8E7-27961CE1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INTERPRÉTATION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409C7-5243-4F01-882C-0BA4784E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Tests statiques et tests dynamiques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17197-9D5D-4498-8BC3-9AFD7587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B7F4C-9519-4B4D-AE1D-AB4494B986A1}"/>
              </a:ext>
            </a:extLst>
          </p:cNvPr>
          <p:cNvGraphicFramePr/>
          <p:nvPr/>
        </p:nvGraphicFramePr>
        <p:xfrm>
          <a:off xmlns:a="http://schemas.openxmlformats.org/drawingml/2006/main" x="514350" y="1543050"/>
          <a:ext xmlns:a="http://schemas.openxmlformats.org/drawingml/2006/main" cx="111633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391025"/>
                <a:gridCol w="4391025"/>
              </a:tblGrid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T w="9525">
                      <a:solidFill>
                        <a:srgbClr val="C8D3CD"/>
                      </a:solidFill>
                      <a:prstDash val="solid"/>
                    </a:lnT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153B4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Analyse statique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T w="9525">
                      <a:solidFill>
                        <a:srgbClr val="C8D3CD"/>
                      </a:solidFill>
                      <a:prstDash val="solid"/>
                    </a:lnT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153B4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Exécution dynamique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T w="9525">
                      <a:solidFill>
                        <a:srgbClr val="C8D3CD"/>
                      </a:solidFill>
                      <a:prstDash val="solid"/>
                    </a:lnT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153B46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Objet examiné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Structure du code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Comportement observé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Preuve Stayora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SonarQube, ESLint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HTTP/SQL et Chrome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Exemple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no-console à la ligne 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Code privé dans la réponse IA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Limite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Comportement métier non prouvé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Scénarios et données essayés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</a:tr>
            </a:tbl>
          </a:graphicData>
        </a:graphic>
      </p:graphicFrame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EC911-76FC-45C5-AAC0-75C2EFAB6D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882aab32f4dd4"/>
          <a:stretch xmlns:a="http://schemas.openxmlformats.org/drawingml/2006/main"/>
        </p:blipFill>
        <p:spPr>
          <a:xfrm xmlns:a="http://schemas.openxmlformats.org/drawingml/2006/main">
            <a:off x="1784312" y="4648200"/>
            <a:ext cx="2746450" cy="1143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04F20-9F64-4B3C-B8FC-0426E69C89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db23f44b04d14"/>
          <a:stretch xmlns:a="http://schemas.openxmlformats.org/drawingml/2006/main"/>
        </p:blipFill>
        <p:spPr>
          <a:xfrm xmlns:a="http://schemas.openxmlformats.org/drawingml/2006/main">
            <a:off x="8104726" y="4648200"/>
            <a:ext cx="1840424" cy="1143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1B33F-1748-43AE-AD69-4BFA217A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Les contrôles statiques et les scénarios exécutés apportent des preuves différentes.</a:t>
            </a:r>
          </a:p>
        </p:txBody>
      </p:sp>
    </p:spTree>
    <p:extLst>
      <p:ext uri="{BB962C8B-B14F-4D97-AF65-F5344CB8AC3E}">
        <p14:creationId xmlns:p14="http://schemas.microsoft.com/office/powerpoint/2010/main" val="61048250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BCC27-20B0-499D-829A-0440E3DA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A7E91-0F0D-4EC1-BEB4-ADE4D448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Bilan et priorités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FBA41-DE2A-4354-ACE8-58316475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0773C-AA1D-4ED6-8BB0-D3613F85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Xray</a:t>
            </a:r>
          </a:p>
          <a:p xmlns:a="http://schemas.openxmlformats.org/drawingml/2006/main">
            <a:pPr>
              <a:defRPr sz="247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72 PASSED / 1 FAILED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A0B88-B849-4C59-BC5A-D6C68E44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81325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ESLint</a:t>
            </a:r>
          </a:p>
          <a:p xmlns:a="http://schemas.openxmlformats.org/drawingml/2006/main">
            <a:pPr>
              <a:defRPr sz="23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0 erreur / 1 avertissement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44C9B-6E17-451A-9327-890BA112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52950"/>
            <a:ext cx="504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B46"/>
                </a:solidFill>
                <a:latin typeface="Arial"/>
                <a:ea typeface="Arial"/>
                <a:cs typeface="Arial"/>
              </a:rPr>
              <a:t>Priorité de suivi</a:t>
            </a:r>
          </a:p>
          <a:p xmlns:a="http://schemas.openxmlformats.org/drawingml/2006/main">
            <a: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B46"/>
                </a:solidFill>
                <a:latin typeface="Arial"/>
                <a:ea typeface="Arial"/>
                <a:cs typeface="Arial"/>
              </a:rPr>
              <a:t>Corriger STAY-48 puis rejouer</a:t>
            </a:r>
          </a:p>
          <a:p xmlns:a="http://schemas.openxmlformats.org/drawingml/2006/main">
            <a: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B46"/>
                </a:solidFill>
                <a:latin typeface="Arial"/>
                <a:ea typeface="Arial"/>
                <a:cs typeface="Arial"/>
              </a:rPr>
              <a:t>les tests IA et confidentialité.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0937E-723F-4241-B137-FBAC0646DD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e14a41c1d4a7d"/>
          <a:stretch xmlns:a="http://schemas.openxmlformats.org/drawingml/2006/main"/>
        </p:blipFill>
        <p:spPr>
          <a:xfrm xmlns:a="http://schemas.openxmlformats.org/drawingml/2006/main">
            <a:off x="6096000" y="1905301"/>
            <a:ext cx="5581650" cy="346649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0FDA4B-AFDE-46BF-ABAA-FB1F6914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Campagne exécutée. Conformité complète à confirmer après correction et retest.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BF441-59B6-40EB-9848-F0387B6A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193ff71fed374508"/>
              </a:rPr>
              <a:t>Défaut STAY-48 et preuves de reproduction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68290126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FCD3B-C1D9-47E3-AEBA-66E57D76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DÉMONSTRATION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FD596-1054-485C-BE00-4321868B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Liens de consultation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A4CBC-8A3F-49BD-AB02-523D5124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3362D-3490-4A5E-A543-8751F7F7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859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fda2cfff46904d08"/>
              </a:rPr>
              <a:t>Tableau Jira STAY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0DCBD-4263-45C0-9D6E-69F78AE5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7aa61719a8214ce8"/>
              </a:rPr>
              <a:t>Tableau de tests Xray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0A047-0277-420D-94A9-348CFBBD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8607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a3fc29d198df46e4"/>
              </a:rPr>
              <a:t>Plan de tests STAY-46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CBE99-0C05-4FCF-A6DF-9C82B0B7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6488ed0b55294eac"/>
              </a:rPr>
              <a:t>Suite de tests STAY-45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40DC2-4CB5-4CC7-A560-81BFE679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62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c79b1208ddaa400d"/>
              </a:rPr>
              <a:t>Exécution STAY-47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BE5CB-32BB-4263-BFEF-EC22E0A164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17e2d11634e5c"/>
          <a:stretch xmlns:a="http://schemas.openxmlformats.org/drawingml/2006/main"/>
        </p:blipFill>
        <p:spPr>
          <a:xfrm xmlns:a="http://schemas.openxmlformats.org/drawingml/2006/main">
            <a:off x="6096000" y="1803944"/>
            <a:ext cx="5581650" cy="340251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AA8F4-D577-4D92-9A16-F252DFFF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Connexion Jira requise. Les captures rendent la présentation consultable hors ligne.</a:t>
            </a:r>
          </a:p>
        </p:txBody>
      </p:sp>
    </p:spTree>
    <p:extLst>
      <p:ext uri="{BB962C8B-B14F-4D97-AF65-F5344CB8AC3E}">
        <p14:creationId xmlns:p14="http://schemas.microsoft.com/office/powerpoint/2010/main" val="20541043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2026-10-17T20:26:09.4110000Z</dcterms:created>
  <dcterms:modified xsi:type="dcterms:W3CDTF">2026-10-17T20:26:09.4110000Z</dcterms:modified>
</coreProperties>
</file>