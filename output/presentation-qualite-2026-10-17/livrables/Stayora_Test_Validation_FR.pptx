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26794a4a79416e" /><Relationship Type="http://schemas.openxmlformats.org/officeDocument/2006/relationships/extended-properties" Target="/docProps/app.xml" Id="R7540fbe758e44c83" /><Relationship Type="http://schemas.openxmlformats.org/officeDocument/2006/relationships/officeDocument" Target="/ppt/presentation.xml" Id="Rb7b2f22c7ae549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1a3e5e05a54a24"/>
  </p:sldMasterIdLst>
  <p:notesMasterIdLst>
    <p:notesMasterId xmlns:r="http://schemas.openxmlformats.org/officeDocument/2006/relationships" r:id="R3c69b48eb0754b40"/>
  </p:notesMasterIdLst>
  <p:sldIdLst>
    <p:sldId xmlns:r="http://schemas.openxmlformats.org/officeDocument/2006/relationships" id="256" r:id="R98cd584fa9134863"/>
    <p:sldId xmlns:r="http://schemas.openxmlformats.org/officeDocument/2006/relationships" id="257" r:id="R9ecb5fc937654853"/>
    <p:sldId xmlns:r="http://schemas.openxmlformats.org/officeDocument/2006/relationships" id="258" r:id="Rac34e316fac34b18"/>
    <p:sldId xmlns:r="http://schemas.openxmlformats.org/officeDocument/2006/relationships" id="259" r:id="Rbc460a23a14c4e10"/>
    <p:sldId xmlns:r="http://schemas.openxmlformats.org/officeDocument/2006/relationships" id="260" r:id="R6ed6eedff00d47bb"/>
    <p:sldId xmlns:r="http://schemas.openxmlformats.org/officeDocument/2006/relationships" id="261" r:id="R38a8ff00ce98462c"/>
    <p:sldId xmlns:r="http://schemas.openxmlformats.org/officeDocument/2006/relationships" id="262" r:id="R70364ab9d319416d"/>
    <p:sldId xmlns:r="http://schemas.openxmlformats.org/officeDocument/2006/relationships" id="263" r:id="R97f16a35235f470d"/>
    <p:sldId xmlns:r="http://schemas.openxmlformats.org/officeDocument/2006/relationships" id="264" r:id="R0d577b2c1b5c47f2"/>
    <p:sldId xmlns:r="http://schemas.openxmlformats.org/officeDocument/2006/relationships" id="265" r:id="R4f68ecf29cf7412a"/>
    <p:sldId xmlns:r="http://schemas.openxmlformats.org/officeDocument/2006/relationships" id="266" r:id="Rbdf1cff6fe834052"/>
    <p:sldId xmlns:r="http://schemas.openxmlformats.org/officeDocument/2006/relationships" id="267" r:id="Rbe469811dc7f4802"/>
    <p:sldId xmlns:r="http://schemas.openxmlformats.org/officeDocument/2006/relationships" id="268" r:id="Red3f4d6f93334ef6"/>
    <p:sldId xmlns:r="http://schemas.openxmlformats.org/officeDocument/2006/relationships" id="269" r:id="R39fa799267dd4728"/>
    <p:sldId xmlns:r="http://schemas.openxmlformats.org/officeDocument/2006/relationships" id="270" r:id="R9b1928deb24144f8"/>
    <p:sldId xmlns:r="http://schemas.openxmlformats.org/officeDocument/2006/relationships" id="271" r:id="R8a5d242e09f14219"/>
    <p:sldId xmlns:r="http://schemas.openxmlformats.org/officeDocument/2006/relationships" id="272" r:id="Rd48a7f41ceef4684"/>
    <p:sldId xmlns:r="http://schemas.openxmlformats.org/officeDocument/2006/relationships" id="273" r:id="R05e833d33e2940e6"/>
    <p:sldId xmlns:r="http://schemas.openxmlformats.org/officeDocument/2006/relationships" id="274" r:id="R174e2290f46346df"/>
    <p:sldId xmlns:r="http://schemas.openxmlformats.org/officeDocument/2006/relationships" id="275" r:id="Rc9378faaf893477e"/>
    <p:sldId xmlns:r="http://schemas.openxmlformats.org/officeDocument/2006/relationships" id="276" r:id="R7d0ee4a687954ac2"/>
    <p:sldId xmlns:r="http://schemas.openxmlformats.org/officeDocument/2006/relationships" id="277" r:id="R7bbf00ea435949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fa073ba60a4da2" /><Relationship Type="http://schemas.openxmlformats.org/officeDocument/2006/relationships/slideMaster" Target="/ppt/slideMasters/slideMaster1.xml" Id="R071a3e5e05a54a24" /><Relationship Type="http://schemas.openxmlformats.org/officeDocument/2006/relationships/notesMaster" Target="/ppt/notesMasters/notesMaster1.xml" Id="R3c69b48eb0754b40" /><Relationship Type="http://schemas.openxmlformats.org/officeDocument/2006/relationships/presProps" Target="/ppt/presProps.xml" Id="R37d325e5bc3645da" /><Relationship Type="http://schemas.openxmlformats.org/officeDocument/2006/relationships/tableStyles" Target="/ppt/tableStyles.xml" Id="Rc45d00948224421b" /><Relationship Type="http://schemas.openxmlformats.org/officeDocument/2006/relationships/slide" Target="/ppt/slides/slide1.xml" Id="R98cd584fa9134863" /><Relationship Type="http://schemas.openxmlformats.org/officeDocument/2006/relationships/slide" Target="/ppt/slides/slide2.xml" Id="R9ecb5fc937654853" /><Relationship Type="http://schemas.openxmlformats.org/officeDocument/2006/relationships/slide" Target="/ppt/slides/slide3.xml" Id="Rac34e316fac34b18" /><Relationship Type="http://schemas.openxmlformats.org/officeDocument/2006/relationships/slide" Target="/ppt/slides/slide4.xml" Id="Rbc460a23a14c4e10" /><Relationship Type="http://schemas.openxmlformats.org/officeDocument/2006/relationships/slide" Target="/ppt/slides/slide5.xml" Id="R6ed6eedff00d47bb" /><Relationship Type="http://schemas.openxmlformats.org/officeDocument/2006/relationships/slide" Target="/ppt/slides/slide6.xml" Id="R38a8ff00ce98462c" /><Relationship Type="http://schemas.openxmlformats.org/officeDocument/2006/relationships/slide" Target="/ppt/slides/slide7.xml" Id="R70364ab9d319416d" /><Relationship Type="http://schemas.openxmlformats.org/officeDocument/2006/relationships/slide" Target="/ppt/slides/slide8.xml" Id="R97f16a35235f470d" /><Relationship Type="http://schemas.openxmlformats.org/officeDocument/2006/relationships/slide" Target="/ppt/slides/slide9.xml" Id="R0d577b2c1b5c47f2" /><Relationship Type="http://schemas.openxmlformats.org/officeDocument/2006/relationships/slide" Target="/ppt/slides/slide10.xml" Id="R4f68ecf29cf7412a" /><Relationship Type="http://schemas.openxmlformats.org/officeDocument/2006/relationships/slide" Target="/ppt/slides/slide11.xml" Id="Rbdf1cff6fe834052" /><Relationship Type="http://schemas.openxmlformats.org/officeDocument/2006/relationships/slide" Target="/ppt/slides/slide12.xml" Id="Rbe469811dc7f4802" /><Relationship Type="http://schemas.openxmlformats.org/officeDocument/2006/relationships/slide" Target="/ppt/slides/slide13.xml" Id="Red3f4d6f93334ef6" /><Relationship Type="http://schemas.openxmlformats.org/officeDocument/2006/relationships/slide" Target="/ppt/slides/slide14.xml" Id="R39fa799267dd4728" /><Relationship Type="http://schemas.openxmlformats.org/officeDocument/2006/relationships/slide" Target="/ppt/slides/slide15.xml" Id="R9b1928deb24144f8" /><Relationship Type="http://schemas.openxmlformats.org/officeDocument/2006/relationships/slide" Target="/ppt/slides/slide16.xml" Id="R8a5d242e09f14219" /><Relationship Type="http://schemas.openxmlformats.org/officeDocument/2006/relationships/slide" Target="/ppt/slides/slide17.xml" Id="Rd48a7f41ceef4684" /><Relationship Type="http://schemas.openxmlformats.org/officeDocument/2006/relationships/slide" Target="/ppt/slides/slide18.xml" Id="R05e833d33e2940e6" /><Relationship Type="http://schemas.openxmlformats.org/officeDocument/2006/relationships/slide" Target="/ppt/slides/slide19.xml" Id="R174e2290f46346df" /><Relationship Type="http://schemas.openxmlformats.org/officeDocument/2006/relationships/slide" Target="/ppt/slides/slide20.xml" Id="Rc9378faaf893477e" /><Relationship Type="http://schemas.openxmlformats.org/officeDocument/2006/relationships/slide" Target="/ppt/slides/slide21.xml" Id="R7d0ee4a687954ac2" /><Relationship Type="http://schemas.openxmlformats.org/officeDocument/2006/relationships/slide" Target="/ppt/slides/slide22.xml" Id="R7bbf00ea435949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af83ce681245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fb3c9815bd4fdb" /><Relationship Type="http://schemas.openxmlformats.org/officeDocument/2006/relationships/notesMaster" Target="/ppt/notesMasters/notesMaster1.xml" Id="R09d88b5446b545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b91a8941384097" /><Relationship Type="http://schemas.openxmlformats.org/officeDocument/2006/relationships/notesMaster" Target="/ppt/notesMasters/notesMaster1.xml" Id="R74a9870e82bd49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7a498a4e274200" /><Relationship Type="http://schemas.openxmlformats.org/officeDocument/2006/relationships/notesMaster" Target="/ppt/notesMasters/notesMaster1.xml" Id="Ra079d8ba1c4d4f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ecd2d696004bf6" /><Relationship Type="http://schemas.openxmlformats.org/officeDocument/2006/relationships/notesMaster" Target="/ppt/notesMasters/notesMaster1.xml" Id="Rc8c50160f0e04a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c281347851427a" /><Relationship Type="http://schemas.openxmlformats.org/officeDocument/2006/relationships/notesMaster" Target="/ppt/notesMasters/notesMaster1.xml" Id="R322074a797614e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89dbee5656470a" /><Relationship Type="http://schemas.openxmlformats.org/officeDocument/2006/relationships/notesMaster" Target="/ppt/notesMasters/notesMaster1.xml" Id="Raed269e564694c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d5eeeef7454f3a" /><Relationship Type="http://schemas.openxmlformats.org/officeDocument/2006/relationships/notesMaster" Target="/ppt/notesMasters/notesMaster1.xml" Id="R6a2adb967a1149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3e6f2c9f9042d5" /><Relationship Type="http://schemas.openxmlformats.org/officeDocument/2006/relationships/notesMaster" Target="/ppt/notesMasters/notesMaster1.xml" Id="R8386f36d5dbf4d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d72f0f0855422f" /><Relationship Type="http://schemas.openxmlformats.org/officeDocument/2006/relationships/notesMaster" Target="/ppt/notesMasters/notesMaster1.xml" Id="R5f05ac7d8c174a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9d68945b6046d1" /><Relationship Type="http://schemas.openxmlformats.org/officeDocument/2006/relationships/notesMaster" Target="/ppt/notesMasters/notesMaster1.xml" Id="Rf7d411ba000b47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88c0b436f44a59" /><Relationship Type="http://schemas.openxmlformats.org/officeDocument/2006/relationships/notesMaster" Target="/ppt/notesMasters/notesMaster1.xml" Id="R667bba337f0445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78e0abe0614964" /><Relationship Type="http://schemas.openxmlformats.org/officeDocument/2006/relationships/notesMaster" Target="/ppt/notesMasters/notesMaster1.xml" Id="Rf8147b1fbfc64c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091d4e5dbb4ff6" /><Relationship Type="http://schemas.openxmlformats.org/officeDocument/2006/relationships/notesMaster" Target="/ppt/notesMasters/notesMaster1.xml" Id="R19236bdde40848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b5884f692f472e" /><Relationship Type="http://schemas.openxmlformats.org/officeDocument/2006/relationships/notesMaster" Target="/ppt/notesMasters/notesMaster1.xml" Id="Re4cb792ddf5948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1db027e9094b81" /><Relationship Type="http://schemas.openxmlformats.org/officeDocument/2006/relationships/notesMaster" Target="/ppt/notesMasters/notesMaster1.xml" Id="R84869b85f79e48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c8a651d30e461e" /><Relationship Type="http://schemas.openxmlformats.org/officeDocument/2006/relationships/notesMaster" Target="/ppt/notesMasters/notesMaster1.xml" Id="R55e0f4850eb249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452d68dec44a0b" /><Relationship Type="http://schemas.openxmlformats.org/officeDocument/2006/relationships/notesMaster" Target="/ppt/notesMasters/notesMaster1.xml" Id="R905fe0f4945945e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9cd59dadc6341dc" /><Relationship Type="http://schemas.openxmlformats.org/officeDocument/2006/relationships/notesMaster" Target="/ppt/notesMasters/notesMaster1.xml" Id="R25ffb2135634441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da58ba887347a9" /><Relationship Type="http://schemas.openxmlformats.org/officeDocument/2006/relationships/notesMaster" Target="/ppt/notesMasters/notesMaster1.xml" Id="R07cc1dc76f4c468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a3df34bd1cc48fb" /><Relationship Type="http://schemas.openxmlformats.org/officeDocument/2006/relationships/notesMaster" Target="/ppt/notesMasters/notesMaster1.xml" Id="R4fd520459bf54f1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98699bb3e704982" /><Relationship Type="http://schemas.openxmlformats.org/officeDocument/2006/relationships/notesMaster" Target="/ppt/notesMasters/notesMaster1.xml" Id="Rb96a81e6a2634f0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5fc0e7a56554e78" /><Relationship Type="http://schemas.openxmlformats.org/officeDocument/2006/relationships/notesMaster" Target="/ppt/notesMasters/notesMaster1.xml" Id="R06bc7f15256642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réelle de la campagne Réservations du 17/10/2026. Sources : manifeste et preuves Xray. Révision d70949c283394b5c23d9b3271f5e8564a3a5aa8d. La présentation exclut les membres de l’équipe.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critères Jira STAY-22 à STAY-28, STAY-38, STAY-39, STAY-41 et manifeste de campagne du 17/10/2026.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du tableau STAY, filtré sur les réservations. Aucun sprint terminé n’est revendiqué.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https://grp5sae9.atlassian.net/browse/STAY-22. Capture recadrée sur le ticket sans données de membre.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STAY-48. Le code 8492# est synthétique. Aucun fournisseur externe n’a été appelé.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Comparaison adaptée au besoin Stayora, sans essai expérimental de Trello. Sources officielles : https://www.atlassian.com/software/trello/trello-and-jira et https://www.atlassian.com/blog/trello/trello-vs-jira.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plan natif STAY-46, suite STAY-45 et campagne STAY-47. Révision d70949c283394b5c23d9b3271f5e8564a3a5aa8d.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STAY-45 et manifest.json. Les états Jira To Do des cas sont distincts des résultats des Test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Test Run de STAY-51 dans STAY-47. Actions manuelles réellement exécutées le 17/10/2026. Précondition native STAY-49.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STAY-47, résultat natif sauvegardé et manifeste. Les 39 tests frontend et 60 backend de npm run check sont complémentaires, non additionnés aux 73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Test Run FAILED de STAY-111 dans STAY-47, preuve API-061-resultat.json, défaut natif STAY-48. Aucun correctif ni retest de correctif.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panneaux natifs Test Coverage de STAY-22 et STAY-41, capturés le 17/10/2026. OK et NOK concernent le résultat de couverture, pas l’état Jira.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docs/testing-report/evidence/sonarqube.json, verification.json et capture tableau-de-bord.png. Snapshot historique sur arbre local non encore commité, pas une nouvelle analyse du 17/10. Outil : Community Build 26.9.0.129388.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SonarQube, instantané du 11/10/2026. 44 signalements distincts, un signalement peut concerner plusieurs qualités. Les 16 + 40 ne doivent pas être additionnés. Règle S8786 : expressions régulières à examiner.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SonarQube historique du 11/10/2026 et https://docs.sonarsource.com/sonarqube-community-build/user-guide/about-new-code. Le portail concerne le nouveau code. Couverture Java 85,4 %, Angular 37,9 %, total 67,1 % dans verification.json.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sortie JSON réelle, evidence/eslint-raw.json et eslint-execution.json. Node v22.23.3, ESLint 8.57.1. Rapport HTML local de lecture, pas interface native ESLint. Durée 3,054 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frontend/.eslintrc.json et docs/static-testing-2026-10-11/eslint-rapport.cjs, relancé le 17/10/2026. Exclut Java, SQL et validation métier à l’exécution.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exécution ESLint du 17/10/2026. Message original Unexpected console statement. Un message de démarrage fixe ne prouve pas une vulnérabilité. https://eslint.org/docs/latest/use/core-concepts/glossary et https://eslint.org/docs/latest/rules/no-console.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snapshots SonarQube du 11/10/2026 et ESLint du 17/10/2026. Dates et périmètres distincts, aucun classement numérique direct. https://www.sonarsource.com/resources/library/static-code-analysis-using-sonarqube/ et https://eslint.org/docs/latest/use/core-concepts/glossary.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campagne Xray du 17/10/2026 et rapports statiques. Xray gère et enregistre les scénarios, il ne remplace pas l’exécution réelle. La couverture affichée par SonarQube provient de tests dynamiques importés.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STAY-48, campagne STAY-47 et rapports SonarQube/ESLint. Aucun correctif réalisé pendant la campagne. La conformité complète du module ne peut pas être prononcée avec ce défaut ouvert.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Liens réels vérifiés dans Jira. L’accès anonyme n’est pas disponible dans les espaces gérés par équipe. Source : https://support.atlassian.com/jira-software-cloud/docs/next-gen-permissions/. Aucun réglage global ni migration de projet modifié.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993eef5334b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a07ed0be749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c47cded0d43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9b3e6527c4a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1f41c5db141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dbb46786248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52C741-221D-4192-8485-B87114ED7F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0E6350-62D1-4C3C-8026-9CA7FAEE8F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13E3E1-7156-45F8-AC86-8CD83DEFB9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7D6B54-B7CF-4E66-BA53-A696F06E7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421DE2-F7F3-4639-84C9-D596A23C66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765496-BE77-4F9D-A235-9B4984F9D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7B790E-03C9-4746-B81A-D65137D373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740F02-3F02-415D-AB6B-4B1078BA8E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78AA6C-7B6C-46B2-A8A2-CC992E5E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8B64EE-A9DC-4CD1-9ECC-EED29A5483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9857cbd1004950" /><Relationship Type="http://schemas.openxmlformats.org/officeDocument/2006/relationships/slideLayout" Target="/ppt/slideLayouts/slideLayout1.xml" Id="Rbef2d03cb7de4c90" /><Relationship Type="http://schemas.openxmlformats.org/officeDocument/2006/relationships/slideLayout" Target="/ppt/slideLayouts/slideLayout2.xml" Id="R9945ccf7c8e14115" /><Relationship Type="http://schemas.openxmlformats.org/officeDocument/2006/relationships/slideLayout" Target="/ppt/slideLayouts/slideLayout3.xml" Id="Rb4284557bb694ddc" /><Relationship Type="http://schemas.openxmlformats.org/officeDocument/2006/relationships/slideLayout" Target="/ppt/slideLayouts/slideLayout4.xml" Id="R0b574b6b81994186" /><Relationship Type="http://schemas.openxmlformats.org/officeDocument/2006/relationships/slideLayout" Target="/ppt/slideLayouts/slideLayout5.xml" Id="R60599b87915c4b77" /><Relationship Type="http://schemas.openxmlformats.org/officeDocument/2006/relationships/slideLayout" Target="/ppt/slideLayouts/slideLayout6.xml" Id="R1300e150a4e94d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f2d03cb7de4c90"/>
    <p:sldLayoutId xmlns:r="http://schemas.openxmlformats.org/officeDocument/2006/relationships" id="2147483650" r:id="R9945ccf7c8e14115"/>
    <p:sldLayoutId xmlns:r="http://schemas.openxmlformats.org/officeDocument/2006/relationships" id="2147483651" r:id="Rb4284557bb694ddc"/>
    <p:sldLayoutId xmlns:r="http://schemas.openxmlformats.org/officeDocument/2006/relationships" id="2147483652" r:id="R0b574b6b81994186"/>
    <p:sldLayoutId xmlns:r="http://schemas.openxmlformats.org/officeDocument/2006/relationships" id="2147483653" r:id="R60599b87915c4b77"/>
    <p:sldLayoutId xmlns:r="http://schemas.openxmlformats.org/officeDocument/2006/relationships" id="2147483654" r:id="R1300e150a4e94d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cf1129dec94097" /><Relationship Type="http://schemas.openxmlformats.org/officeDocument/2006/relationships/image" Target="/ppt/media/image.jpeg" Id="R1839b827c85846be" /><Relationship Type="http://schemas.openxmlformats.org/officeDocument/2006/relationships/notesSlide" Target="/ppt/notesSlides/notesSlide1.xml" Id="R0249525bab1c4f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ce1aa5f73b4741" /><Relationship Type="http://schemas.openxmlformats.org/officeDocument/2006/relationships/image" Target="/ppt/media/image2.jpeg" Id="R6becd42800364f66" /><Relationship Type="http://schemas.openxmlformats.org/officeDocument/2006/relationships/notesSlide" Target="/ppt/notesSlides/notesSlide2.xml" Id="R1e2d4969551a46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7a9579d10a4830" /><Relationship Type="http://schemas.openxmlformats.org/officeDocument/2006/relationships/image" Target="/ppt/media/image3.jpeg" Id="Rcbc024f1f43b4f99" /><Relationship Type="http://schemas.openxmlformats.org/officeDocument/2006/relationships/hyperlink" Target="https://grp5sae9.atlassian.net/jira/software/projects/STAY/boards/35" TargetMode="External" Id="R6456e1d6dbcf4dca" /><Relationship Type="http://schemas.openxmlformats.org/officeDocument/2006/relationships/notesSlide" Target="/ppt/notesSlides/notesSlide3.xml" Id="Rc70ac786e1514c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282ea09df243a1" /><Relationship Type="http://schemas.openxmlformats.org/officeDocument/2006/relationships/image" Target="/ppt/media/image4.jpeg" Id="R6c1b8f836521456b" /><Relationship Type="http://schemas.openxmlformats.org/officeDocument/2006/relationships/hyperlink" Target="https://grp5sae9.atlassian.net/browse/STAY-22" TargetMode="External" Id="Rf6144e9d6bd54b03" /><Relationship Type="http://schemas.openxmlformats.org/officeDocument/2006/relationships/notesSlide" Target="/ppt/notesSlides/notesSlide4.xml" Id="R5487feb2a09a42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89a5692ea439f" /><Relationship Type="http://schemas.openxmlformats.org/officeDocument/2006/relationships/image" Target="/ppt/media/image5.jpeg" Id="R5e3952b053424099" /><Relationship Type="http://schemas.openxmlformats.org/officeDocument/2006/relationships/hyperlink" Target="https://grp5sae9.atlassian.net/browse/STAY-48" TargetMode="External" Id="Rb31fe91d83d34f6e" /><Relationship Type="http://schemas.openxmlformats.org/officeDocument/2006/relationships/notesSlide" Target="/ppt/notesSlides/notesSlide5.xml" Id="R93e4444a0cb44c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9ba01b40b3480c" /><Relationship Type="http://schemas.openxmlformats.org/officeDocument/2006/relationships/image" Target="/ppt/media/image6.jpeg" Id="R6b04199ff3cb4b3f" /><Relationship Type="http://schemas.openxmlformats.org/officeDocument/2006/relationships/hyperlink" Target="https://grp5sae9.atlassian.net/jira/software/projects/STAY/boards/35" TargetMode="External" Id="Rfbb89fb6a82840d4" /><Relationship Type="http://schemas.openxmlformats.org/officeDocument/2006/relationships/notesSlide" Target="/ppt/notesSlides/notesSlide6.xml" Id="Rd1cf6e70943742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aef5ecff04c60" /><Relationship Type="http://schemas.openxmlformats.org/officeDocument/2006/relationships/image" Target="/ppt/media/image7.jpeg" Id="R8b56aa1bb1554e67" /><Relationship Type="http://schemas.openxmlformats.org/officeDocument/2006/relationships/hyperlink" Target="https://grp5sae9.atlassian.net/browse/STAY-46" TargetMode="External" Id="Rcb5992199f6544b8" /><Relationship Type="http://schemas.openxmlformats.org/officeDocument/2006/relationships/notesSlide" Target="/ppt/notesSlides/notesSlide7.xml" Id="R201d988450c949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70f251ebe4d0e" /><Relationship Type="http://schemas.openxmlformats.org/officeDocument/2006/relationships/image" Target="/ppt/media/image8.jpeg" Id="Rce14875d79ed4652" /><Relationship Type="http://schemas.openxmlformats.org/officeDocument/2006/relationships/hyperlink" Target="https://grp5sae9.atlassian.net/browse/STAY-45" TargetMode="External" Id="R4c3ebc7e94ba46e2" /><Relationship Type="http://schemas.openxmlformats.org/officeDocument/2006/relationships/notesSlide" Target="/ppt/notesSlides/notesSlide8.xml" Id="Rddd426ad6bfc46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aa781437664963" /><Relationship Type="http://schemas.openxmlformats.org/officeDocument/2006/relationships/image" Target="/ppt/media/image9.jpeg" Id="R0e283594e2fc44fd" /><Relationship Type="http://schemas.openxmlformats.org/officeDocument/2006/relationships/hyperlink" Target="https://grp5sae9.atlassian.net/browse/STAY-51" TargetMode="External" Id="R4231635419e64f75" /><Relationship Type="http://schemas.openxmlformats.org/officeDocument/2006/relationships/notesSlide" Target="/ppt/notesSlides/notesSlide9.xml" Id="Rbf8d498f50b444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4f2ccbaae465f" /><Relationship Type="http://schemas.openxmlformats.org/officeDocument/2006/relationships/image" Target="/ppt/media/image10.jpeg" Id="R5311751c003f45f8" /><Relationship Type="http://schemas.openxmlformats.org/officeDocument/2006/relationships/hyperlink" Target="https://grp5sae9.atlassian.net/browse/STAY-47" TargetMode="External" Id="R44e5f9dcde574636" /><Relationship Type="http://schemas.openxmlformats.org/officeDocument/2006/relationships/notesSlide" Target="/ppt/notesSlides/notesSlide10.xml" Id="R82b18423226e4c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409504b6b94eb1" /><Relationship Type="http://schemas.openxmlformats.org/officeDocument/2006/relationships/image" Target="/ppt/media/image11.jpeg" Id="Rd9933798d5bb4812" /><Relationship Type="http://schemas.openxmlformats.org/officeDocument/2006/relationships/hyperlink" Target="https://grp5sae9.atlassian.net/browse/STAY-111" TargetMode="External" Id="R844fa5424f5341d3" /><Relationship Type="http://schemas.openxmlformats.org/officeDocument/2006/relationships/notesSlide" Target="/ppt/notesSlides/notesSlide11.xml" Id="R4f87615f2f034c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0db839ff84e75" /><Relationship Type="http://schemas.openxmlformats.org/officeDocument/2006/relationships/image" Target="/ppt/media/image12.jpeg" Id="R646c2ad956114ff2" /><Relationship Type="http://schemas.openxmlformats.org/officeDocument/2006/relationships/image" Target="/ppt/media/image13.jpeg" Id="R3416433fd42f4dea" /><Relationship Type="http://schemas.openxmlformats.org/officeDocument/2006/relationships/hyperlink" Target="https://grp5sae9.atlassian.net/browse/STAY-41" TargetMode="External" Id="Rdb8751042e384148" /><Relationship Type="http://schemas.openxmlformats.org/officeDocument/2006/relationships/notesSlide" Target="/ppt/notesSlides/notesSlide12.xml" Id="R58ffdb61450342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faae783c684036" /><Relationship Type="http://schemas.openxmlformats.org/officeDocument/2006/relationships/image" Target="/ppt/media/image.png" Id="R5ebbc1fd17c14afb" /><Relationship Type="http://schemas.openxmlformats.org/officeDocument/2006/relationships/notesSlide" Target="/ppt/notesSlides/notesSlide13.xml" Id="R8226f31e788c49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eab38982b476f" /><Relationship Type="http://schemas.openxmlformats.org/officeDocument/2006/relationships/image" Target="/ppt/media/image2.png" Id="R41f057c12a2446d3" /><Relationship Type="http://schemas.openxmlformats.org/officeDocument/2006/relationships/notesSlide" Target="/ppt/notesSlides/notesSlide14.xml" Id="R30b4a01eb6ed4d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e2d53378b0426e" /><Relationship Type="http://schemas.openxmlformats.org/officeDocument/2006/relationships/image" Target="/ppt/media/image3.png" Id="Re4ffd458cf6e46ef" /><Relationship Type="http://schemas.openxmlformats.org/officeDocument/2006/relationships/notesSlide" Target="/ppt/notesSlides/notesSlide15.xml" Id="Rec7a01ed506e45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e62ea70ec4b3e" /><Relationship Type="http://schemas.openxmlformats.org/officeDocument/2006/relationships/image" Target="/ppt/media/image14.jpeg" Id="R58b4aa5a4299416c" /><Relationship Type="http://schemas.openxmlformats.org/officeDocument/2006/relationships/notesSlide" Target="/ppt/notesSlides/notesSlide16.xml" Id="Ra28a89723b9240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dac7d0f9b949fb" /><Relationship Type="http://schemas.openxmlformats.org/officeDocument/2006/relationships/image" Target="/ppt/media/image15.jpeg" Id="R67b2555754ff405c" /><Relationship Type="http://schemas.openxmlformats.org/officeDocument/2006/relationships/notesSlide" Target="/ppt/notesSlides/notesSlide17.xml" Id="Rf80e34a6e30448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7460db1084cbc" /><Relationship Type="http://schemas.openxmlformats.org/officeDocument/2006/relationships/image" Target="/ppt/media/image16.jpeg" Id="R7cf827afb56c48b6" /><Relationship Type="http://schemas.openxmlformats.org/officeDocument/2006/relationships/notesSlide" Target="/ppt/notesSlides/notesSlide18.xml" Id="R12a7faa862eb4d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fc63f3b9bc40f3" /><Relationship Type="http://schemas.openxmlformats.org/officeDocument/2006/relationships/image" Target="/ppt/media/image4.png" Id="R914be13ba4304595" /><Relationship Type="http://schemas.openxmlformats.org/officeDocument/2006/relationships/image" Target="/ppt/media/image17.jpeg" Id="Rc9fc22542f0e479f" /><Relationship Type="http://schemas.openxmlformats.org/officeDocument/2006/relationships/notesSlide" Target="/ppt/notesSlides/notesSlide19.xml" Id="R5cac9e2a353540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b7c8ecd0384031" /><Relationship Type="http://schemas.openxmlformats.org/officeDocument/2006/relationships/image" Target="/ppt/media/image18.jpeg" Id="R2947369d548c4089" /><Relationship Type="http://schemas.openxmlformats.org/officeDocument/2006/relationships/image" Target="/ppt/media/image19.jpeg" Id="R101f3a51de144ab7" /><Relationship Type="http://schemas.openxmlformats.org/officeDocument/2006/relationships/notesSlide" Target="/ppt/notesSlides/notesSlide20.xml" Id="R7ea7f962f8bd405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88c1f89e04858" /><Relationship Type="http://schemas.openxmlformats.org/officeDocument/2006/relationships/image" Target="/ppt/media/image20.jpeg" Id="Rfe903815158a4737" /><Relationship Type="http://schemas.openxmlformats.org/officeDocument/2006/relationships/hyperlink" Target="https://grp5sae9.atlassian.net/browse/STAY-48" TargetMode="External" Id="R99798cfd01f741dc" /><Relationship Type="http://schemas.openxmlformats.org/officeDocument/2006/relationships/notesSlide" Target="/ppt/notesSlides/notesSlide21.xml" Id="Rdf25666ae0134f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b2b4bdbf1e41c2" /><Relationship Type="http://schemas.openxmlformats.org/officeDocument/2006/relationships/hyperlink" Target="https://grp5sae9.atlassian.net/jira/software/projects/STAY/boards/35" TargetMode="External" Id="R942110d07bed4d95" /><Relationship Type="http://schemas.openxmlformats.org/officeDocument/2006/relationships/hyperlink" Target="https://grp5sae9.atlassian.net/projects/STAY?selectedItem=com.atlassian.plugins.atlassian-connect-plugin%3Acom.xpandit.plugins.xray__testing-board" TargetMode="External" Id="Ra1a778bd71844823" /><Relationship Type="http://schemas.openxmlformats.org/officeDocument/2006/relationships/hyperlink" Target="https://grp5sae9.atlassian.net/browse/STAY-46" TargetMode="External" Id="Rde53a072b2404722" /><Relationship Type="http://schemas.openxmlformats.org/officeDocument/2006/relationships/hyperlink" Target="https://grp5sae9.atlassian.net/browse/STAY-45" TargetMode="External" Id="R6cfab7d951774373" /><Relationship Type="http://schemas.openxmlformats.org/officeDocument/2006/relationships/hyperlink" Target="https://grp5sae9.atlassian.net/browse/STAY-47" TargetMode="External" Id="R75982d9f915945ec" /><Relationship Type="http://schemas.openxmlformats.org/officeDocument/2006/relationships/image" Target="/ppt/media/image21.jpeg" Id="R36a06020e2c34662" /><Relationship Type="http://schemas.openxmlformats.org/officeDocument/2006/relationships/notesSlide" Target="/ppt/notesSlides/notesSlide22.xml" Id="R45327c7e9e9146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C4D5C-19CE-401E-86B4-8D24F904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STAYORA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5CD32-790D-40AB-8076-963CCA93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Test et validation</a:t>
            </a:r>
          </a:p>
          <a:p xmlns:a="http://schemas.openxmlformats.org/drawingml/2006/main">
            <a:pPr>
              <a:defRPr sz="49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des logiciels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7DA12-1F73-4750-9AEB-A6E847C0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Jira, Xray, SonarQube et ESLint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70EC7-5CB9-40ED-8CC1-1036DD80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4827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Module Réservations</a:t>
            </a:r>
          </a:p>
          <a:p xmlns:a="http://schemas.openxmlformats.org/drawingml/2006/main">
            <a:pPr>
              <a:defRPr sz="16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Présentation en français · octobre 2026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D6F2D-A546-4512-9265-35FAA67E87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9b827c85846be"/>
          <a:stretch xmlns:a="http://schemas.openxmlformats.org/drawingml/2006/main"/>
        </p:blipFill>
        <p:spPr>
          <a:xfrm xmlns:a="http://schemas.openxmlformats.org/drawingml/2006/main">
            <a:off x="6400800" y="1582143"/>
            <a:ext cx="5276850" cy="32174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581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61BB3-7D0B-42D1-ACD7-13E0D585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DÉMARCHE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097BD-69E1-4B6B-A148-5FE331ED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Périmètre et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3C44E-4587-469A-974C-1A842E84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AF6B8-7E22-421D-A602-6E314C6D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4381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01  Jira</a:t>
            </a:r>
          </a:p>
          <a:p xmlns:a="http://schemas.openxmlformats.org/drawingml/2006/main">
            <a: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02  Xray</a:t>
            </a:r>
          </a:p>
          <a:p xmlns:a="http://schemas.openxmlformats.org/drawingml/2006/main">
            <a: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03  SonarQube</a:t>
            </a:r>
          </a:p>
          <a:p xmlns:a="http://schemas.openxmlformats.org/drawingml/2006/main">
            <a: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04  ESLint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24A9F-9078-45E8-8544-25BA982A8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cd42800364f66"/>
          <a:stretch xmlns:a="http://schemas.openxmlformats.org/drawingml/2006/main"/>
        </p:blipFill>
        <p:spPr>
          <a:xfrm xmlns:a="http://schemas.openxmlformats.org/drawingml/2006/main">
            <a:off x="5451038" y="1524000"/>
            <a:ext cx="6014324" cy="3667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E5F9A-EAA2-493B-AA6B-9170328C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Devis, réservation, reçu simulé, annulation, droits d’accès et conseil IA</a:t>
            </a:r>
          </a:p>
        </p:txBody>
      </p:sp>
    </p:spTree>
    <p:extLst>
      <p:ext uri="{BB962C8B-B14F-4D97-AF65-F5344CB8AC3E}">
        <p14:creationId xmlns:p14="http://schemas.microsoft.com/office/powerpoint/2010/main" val="328071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D904C-6B05-45D7-B15B-E1E507E9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EXIGENCES ET SUIVI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2D21B-4F49-490D-9B69-7EF1082E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01  Jira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18FD4-EA6A-441C-AC26-DD789514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34A62-ADC5-4AC9-A059-E194846BB7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024f1f43b4f99"/>
          <a:stretch xmlns:a="http://schemas.openxmlformats.org/drawingml/2006/main"/>
        </p:blipFill>
        <p:spPr>
          <a:xfrm xmlns:a="http://schemas.openxmlformats.org/drawingml/2006/main">
            <a:off x="1306912" y="1381125"/>
            <a:ext cx="9578176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14801-BAD7-46A0-8F67-49D846E3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Backlog initial : 5 Epics et 39 Stories. Les exigences restent To 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C6B46-EC9D-4457-982C-01ABBB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6456e1d6dbcf4dca"/>
              </a:rPr>
              <a:t>Ouvrir le tableau Jira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708164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FB576-9120-46AA-AFCC-5E02FC2D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JIRA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64648-3B5A-4D27-AB7E-C803AF58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Critères d’acceptation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2FC63-80EE-4CA8-9A0A-9864EF00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33069-EAB8-4C4A-ABC1-1CE47A93E7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b8f836521456b"/>
          <a:srcRect xmlns:a="http://schemas.openxmlformats.org/drawingml/2006/main" l="0" t="7000" r="38000" b="2000"/>
          <a:stretch xmlns:a="http://schemas.openxmlformats.org/drawingml/2006/main"/>
        </p:blipFill>
        <p:spPr>
          <a:xfrm xmlns:a="http://schemas.openxmlformats.org/drawingml/2006/main">
            <a:off x="514350" y="1381125"/>
            <a:ext cx="1116330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89606-6250-4C73-BB43-1AADDEAF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STAY-22 : durée, capacité, disponibilité et calcul du prix côté serveur.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46750-69AB-4D99-A082-5D8D2A78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f6144e9d6bd54b03"/>
              </a:rPr>
              <a:t>Ouvrir l’exigence STAY-22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479557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6FA1F-563B-44F0-B9C8-90437E78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JIRA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91779-178F-4B97-9DA3-248502DB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Traçabilité d’une anomalie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E9A84-9235-439B-966A-709F0D28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648A1-0451-4125-8AF0-19CD6703BE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952b053424099"/>
          <a:stretch xmlns:a="http://schemas.openxmlformats.org/drawingml/2006/main"/>
        </p:blipFill>
        <p:spPr>
          <a:xfrm xmlns:a="http://schemas.openxmlformats.org/drawingml/2006/main">
            <a:off x="2606863" y="1381125"/>
            <a:ext cx="6978273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5C701-3BED-467D-B74A-9160C039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STAY-48 : reproduction, attendu, constat et impact du défaut de confidentialité.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95B13-B6FF-4FE6-92A6-513A994B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b31fe91d83d34f6e"/>
              </a:rPr>
              <a:t>Ouvrir le défaut STAY-48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613361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0D187-06D9-4699-A63D-69C9B282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ÉTUDE COMPARATIVE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23041-C8DA-4123-9E8F-EE7901BA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Jira et Trello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10EBD-F838-4739-AAAC-1495AC5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528E8-DBBA-40A3-A4C3-CC3124028B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4199ff3cb4b3f"/>
          <a:stretch xmlns:a="http://schemas.openxmlformats.org/drawingml/2006/main"/>
        </p:blipFill>
        <p:spPr>
          <a:xfrm xmlns:a="http://schemas.openxmlformats.org/drawingml/2006/main">
            <a:off x="514350" y="2657760"/>
            <a:ext cx="3619500" cy="1637729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137EA-7667-43F5-99EC-F9349B3AC2BC}"/>
              </a:ext>
            </a:extLst>
          </p:cNvPr>
          <p:cNvGraphicFramePr/>
          <p:nvPr/>
        </p:nvGraphicFramePr>
        <p:xfrm>
          <a:off xmlns:a="http://schemas.openxmlformats.org/drawingml/2006/main" x="4429125" y="1666875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667000"/>
                <a:gridCol w="2762250"/>
              </a:tblGrid>
              <a:tr h="7858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Critère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Jira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Trello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Organisation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Tickets et hiérarchie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Cartes et listes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Usage ici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Exigences et anomalies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Organisation visuelle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Tests Stayora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Liens natifs Xray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Intégration à prévoir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3634A-0B09-4934-AC4E-6EA23DDC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Choix pour Stayora : Jira conserve les liens entre exigences, tests et défauts.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8DB0F-22D5-4B62-8CDD-75356DF8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fbb89fb6a82840d4"/>
              </a:rPr>
              <a:t>Tableau Jira de la démonstration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3989513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70521-CE7E-47E3-B20C-6FEA16D8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PLAN DU MODULE RÉSERVATIONS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9E0E4-2C77-421A-BE04-2009AFF8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02  Xray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04071-CB9A-41AD-B1EE-F229DC0E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82091-F5D9-477D-B5A5-608653C1AD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6aa1bb1554e67"/>
          <a:stretch xmlns:a="http://schemas.openxmlformats.org/drawingml/2006/main"/>
        </p:blipFill>
        <p:spPr>
          <a:xfrm xmlns:a="http://schemas.openxmlformats.org/drawingml/2006/main">
            <a:off x="2606863" y="1381125"/>
            <a:ext cx="6978273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E6B9E-74EF-46C9-8882-781C4E8C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STAY-46 : périmètre, environnement isolé et critères de sortie.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A5CC9-6585-4975-AB65-FBD8F894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cb5992199f6544b8"/>
              </a:rPr>
              <a:t>Ouvrir le plan Xray STAY-46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318268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3783F-5BF4-43D6-915B-DA4D73F2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F7BCD-1EFF-4CC2-894A-50407D59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Suite de 73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68532-11B0-422D-9E71-8E54D44E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552EC-C45D-48B7-83B3-AB9F338DD9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4875d79ed4652"/>
          <a:stretch xmlns:a="http://schemas.openxmlformats.org/drawingml/2006/main"/>
        </p:blipFill>
        <p:spPr>
          <a:xfrm xmlns:a="http://schemas.openxmlformats.org/drawingml/2006/main">
            <a:off x="2606863" y="1381125"/>
            <a:ext cx="6978273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76CE1-DBA2-4BE2-A991-2598E253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61 cas automatisés HTTP/SQL et 12 parcours manuels Chrome.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0B7FE-DB12-4556-94E4-9B93BA05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4c3ebc7e94ba46e2"/>
              </a:rPr>
              <a:t>Ouvrir la suite Xray STAY-45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660035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82F6D-CD7A-4894-AD76-770434D1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80B97-83A7-427C-BA0E-6A01E6AE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Étape manuelle, attendu et 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EA532-A63D-468D-8EEB-A1180B35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F2142-F434-462B-A2F7-1AD2F6124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83594e2fc44fd"/>
          <a:stretch xmlns:a="http://schemas.openxmlformats.org/drawingml/2006/main"/>
        </p:blipFill>
        <p:spPr>
          <a:xfrm xmlns:a="http://schemas.openxmlformats.org/drawingml/2006/main">
            <a:off x="887211" y="1381125"/>
            <a:ext cx="10417577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6BF17-3B6F-4418-8CA9-26788BF3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STAY-51 / UI-001 : devis de trois nuits à 540.000 TND, étape PASSED.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0C606-E922-45AB-862B-F82C2BCA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4231635419e64f75"/>
              </a:rPr>
              <a:t>Ouvrir le cas manuel STAY-51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38138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0FCF9-766F-4734-A7ED-54713C8D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F1F6F-2882-4CD2-8BEB-4EA7DFF9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72 tests réussis, 1 test échoué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DF371-807C-4130-BF6A-1050E058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D2989-0E5B-4742-BAA2-BB38080EFB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1751c003f45f8"/>
          <a:stretch xmlns:a="http://schemas.openxmlformats.org/drawingml/2006/main"/>
        </p:blipFill>
        <p:spPr>
          <a:xfrm xmlns:a="http://schemas.openxmlformats.org/drawingml/2006/main">
            <a:off x="2606863" y="1381125"/>
            <a:ext cx="6978273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96211-AED0-483B-8BDE-2387A2F8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73 exécutés, aucun bloqué et aucun non exécuté. Taux de réussite : 98,63 %.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DE255-A268-4B31-BABF-F4D86DDC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44e5f9dcde574636"/>
              </a:rPr>
              <a:t>Ouvrir l’exécution Xray STAY-47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21196726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E5213-5110-476A-A81A-7FF7723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755A6-9AE5-406B-A01E-BE88E7B6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Un échec relié à son défaut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3BC3C-0E6B-4615-ADE5-A7BE5461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3DB07-7759-41C4-94F9-C37D817BC7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33798d5bb4812"/>
          <a:srcRect xmlns:a="http://schemas.openxmlformats.org/drawingml/2006/main" l="0" t="25000" r="0" b="0"/>
          <a:stretch xmlns:a="http://schemas.openxmlformats.org/drawingml/2006/main"/>
        </p:blipFill>
        <p:spPr>
          <a:xfrm xmlns:a="http://schemas.openxmlformats.org/drawingml/2006/main">
            <a:off x="514350" y="1381125"/>
            <a:ext cx="1116330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0196C-A24F-4C2A-A122-DA598D17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API-061 / STAY-111 : le nombre 8492 persiste dans les faits 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9E020-1297-41DA-B9D0-B05FFD17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844fa5424f5341d3"/>
              </a:rPr>
              <a:t>Ouvrir le test en échec STAY-111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9318812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AC944-154B-4810-9440-2FD6A4CC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B8B38-9C01-44A7-8760-4B0CEE83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Couverture et conformité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3FF0E-50EA-4981-9C29-36FF1EB8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0BFC4-2A89-4B19-8479-8380930211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c2ad956114ff2"/>
          <a:stretch xmlns:a="http://schemas.openxmlformats.org/drawingml/2006/main"/>
        </p:blipFill>
        <p:spPr>
          <a:xfrm xmlns:a="http://schemas.openxmlformats.org/drawingml/2006/main">
            <a:off x="514350" y="2280651"/>
            <a:ext cx="5286375" cy="2391947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AC81D-E9E2-4C32-A05F-C2C4FADBB5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6433fd42f4dea"/>
          <a:stretch xmlns:a="http://schemas.openxmlformats.org/drawingml/2006/main"/>
        </p:blipFill>
        <p:spPr>
          <a:xfrm xmlns:a="http://schemas.openxmlformats.org/drawingml/2006/main">
            <a:off x="6381750" y="1865367"/>
            <a:ext cx="5286375" cy="322251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8F194-7F2E-4ED6-A566-A2E83938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STAY-22 : 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D8EE6-200F-4083-8CFF-853E9D27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A86D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A86D2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86D21"/>
                </a:solidFill>
                <a:latin typeface="Arial"/>
                <a:ea typeface="Arial"/>
                <a:cs typeface="Arial"/>
              </a:rPr>
              <a:t>STAY-41 : NOK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75A46-A9A6-4A75-AF22-C30F749B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Une exigence couverte peut conserver un échec. STAY-48 reste ouvert.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5E926-5E0D-44A4-A57E-4911DC61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db8751042e384148"/>
              </a:rPr>
              <a:t>Consulter la couverture de STAY-41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2076525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C3360-8C41-479B-B248-7230C29C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ANALYSE STATIQUE DU PROJET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E0C05-9EB1-4DE3-8380-7EF34838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03  SonarQube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BBCE5-B67B-4F31-BB9A-B1F34106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ABFD4-F4B5-4174-AB27-9369A48A85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bc1fd17c14afb"/>
          <a:stretch xmlns:a="http://schemas.openxmlformats.org/drawingml/2006/main"/>
        </p:blipFill>
        <p:spPr>
          <a:xfrm xmlns:a="http://schemas.openxmlformats.org/drawingml/2006/main">
            <a:off x="2540000" y="1381125"/>
            <a:ext cx="711200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0FEAB-137F-4754-B7A1-B8524294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Instantané du 11/10/2026 : couverture globale 67,1 %, duplication 0,4 %.</a:t>
            </a:r>
          </a:p>
        </p:txBody>
      </p:sp>
    </p:spTree>
    <p:extLst>
      <p:ext uri="{BB962C8B-B14F-4D97-AF65-F5344CB8AC3E}">
        <p14:creationId xmlns:p14="http://schemas.microsoft.com/office/powerpoint/2010/main" val="5435266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16BEB-563A-4F84-921F-0435A4F5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SONARQUBE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62412-AD8C-4CF2-8882-A73E1903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44 signalements ouverts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DF224-A4A2-415F-93C5-9CE818EF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AE60F-95F0-422F-ACCB-A4B9BE6A26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057c12a2446d3"/>
          <a:stretch xmlns:a="http://schemas.openxmlformats.org/drawingml/2006/main"/>
        </p:blipFill>
        <p:spPr>
          <a:xfrm xmlns:a="http://schemas.openxmlformats.org/drawingml/2006/main">
            <a:off x="2266754" y="1381125"/>
            <a:ext cx="7658491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9BA91-5027-4498-B764-4007FBB7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Fiabilité C : 16 signalements. Maintenabilité A : 40 signalements.</a:t>
            </a:r>
          </a:p>
        </p:txBody>
      </p:sp>
    </p:spTree>
    <p:extLst>
      <p:ext uri="{BB962C8B-B14F-4D97-AF65-F5344CB8AC3E}">
        <p14:creationId xmlns:p14="http://schemas.microsoft.com/office/powerpoint/2010/main" val="7453213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5DB38-5BDB-46F6-9666-92A052D0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SONARQUBE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054CB-091E-4EFA-9D3C-00F541CF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Portail validé et qualité globale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8CFB7-AEC4-4C92-9B8B-A9B37F8C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6F95D-7932-445E-8CED-0384B6AF11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fd458cf6e46ef"/>
          <a:stretch xmlns:a="http://schemas.openxmlformats.org/drawingml/2006/main"/>
        </p:blipFill>
        <p:spPr>
          <a:xfrm xmlns:a="http://schemas.openxmlformats.org/drawingml/2006/main">
            <a:off x="4833815" y="1514475"/>
            <a:ext cx="6486769" cy="3952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76F62-C396-46BD-91F5-C599E32D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Portail du nouveau code</a:t>
            </a:r>
          </a:p>
          <a:p xmlns:a="http://schemas.openxmlformats.org/drawingml/2006/main">
            <a:pPr>
              <a:defRPr sz="2100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Validé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77C09-DB17-402D-9DBD-B4D0187B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3524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Couverture mesurée</a:t>
            </a:r>
          </a:p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Java 85,4 %</a:t>
            </a:r>
          </a:p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Angular 37,9 %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5287F-C3D6-41FA-A283-68904FCE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Le portail validé coexiste avec les 44 signalements globaux ouverts.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CED8C-ECE8-492B-A5E1-9B36E9A3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Analyse historique du 11 octobre 2026</a:t>
            </a:r>
          </a:p>
        </p:txBody>
      </p:sp>
    </p:spTree>
    <p:extLst>
      <p:ext uri="{BB962C8B-B14F-4D97-AF65-F5344CB8AC3E}">
        <p14:creationId xmlns:p14="http://schemas.microsoft.com/office/powerpoint/2010/main" val="14295576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C6B77-6D87-4FC9-BCD9-4B6C2B92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CONTRÔLE STATIQUE DU FRONTAL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E08CA-B609-434A-9DC1-332291B3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04  ESLint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425B9-9C66-4940-B686-C66227C0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2DF2D-2F17-45C5-9853-263353465A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4aa5a4299416c"/>
          <a:stretch xmlns:a="http://schemas.openxmlformats.org/drawingml/2006/main"/>
        </p:blipFill>
        <p:spPr>
          <a:xfrm xmlns:a="http://schemas.openxmlformats.org/drawingml/2006/main">
            <a:off x="889188" y="1381125"/>
            <a:ext cx="10413624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368B2-4BEC-43DF-B010-993E300D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17/10/2026 : 59 fichiers, 0 erreur, 1 avertissement. Code de sortie 0.</a:t>
            </a:r>
          </a:p>
        </p:txBody>
      </p:sp>
    </p:spTree>
    <p:extLst>
      <p:ext uri="{BB962C8B-B14F-4D97-AF65-F5344CB8AC3E}">
        <p14:creationId xmlns:p14="http://schemas.microsoft.com/office/powerpoint/2010/main" val="20580468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C3834-E599-4CAA-8E1E-5112A22A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ESLINT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D17EE-79A8-4D48-B63C-93F3FD9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Configuration et périmètre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4CAB4-3A0F-4409-830E-92CF8F2F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0F2F6-36FB-4D27-BDC6-38268D5424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2555754ff405c"/>
          <a:stretch xmlns:a="http://schemas.openxmlformats.org/drawingml/2006/main"/>
        </p:blipFill>
        <p:spPr>
          <a:xfrm xmlns:a="http://schemas.openxmlformats.org/drawingml/2006/main">
            <a:off x="889188" y="1381125"/>
            <a:ext cx="10413624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37236-D8DE-4BF4-AFF4-28680D06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TypeScript et HTML Angular. Configuration de rapport, sans --fix.</a:t>
            </a:r>
          </a:p>
        </p:txBody>
      </p:sp>
    </p:spTree>
    <p:extLst>
      <p:ext uri="{BB962C8B-B14F-4D97-AF65-F5344CB8AC3E}">
        <p14:creationId xmlns:p14="http://schemas.microsoft.com/office/powerpoint/2010/main" val="17649395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7418F-5D6F-49DE-9EB0-C4169B09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ESLINT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95943-F486-4CA8-9260-99EC49A3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Un avertissement de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F5D41-403A-44A2-BE0E-F4EF70B0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54A7A-BDA9-48BF-BB0A-AC7EC0C2B0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827afb56c48b6"/>
          <a:stretch xmlns:a="http://schemas.openxmlformats.org/drawingml/2006/main"/>
        </p:blipFill>
        <p:spPr>
          <a:xfrm xmlns:a="http://schemas.openxmlformats.org/drawingml/2006/main">
            <a:off x="889188" y="1381125"/>
            <a:ext cx="10413624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B6A63-FF3D-4D75-B334-2B64F1F8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no-console, frontend/src/main.ts:20:16. Aucun correctif appliqué.</a:t>
            </a:r>
          </a:p>
        </p:txBody>
      </p:sp>
    </p:spTree>
    <p:extLst>
      <p:ext uri="{BB962C8B-B14F-4D97-AF65-F5344CB8AC3E}">
        <p14:creationId xmlns:p14="http://schemas.microsoft.com/office/powerpoint/2010/main" val="6656024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AA4FA-2E6C-4139-AFBB-F3D9B67C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ÉTUDE COMPARATIVE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F3B6F-3A8F-4B58-9566-787AF897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SonarQube et ESLint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7419A-6352-4611-90FD-E1B2162A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37948-54F4-40B1-996B-5613E213C1F8}"/>
              </a:ext>
            </a:extLst>
          </p:cNvPr>
          <p:cNvGraphicFramePr/>
          <p:nvPr/>
        </p:nvGraphicFramePr>
        <p:xfrm>
          <a:off xmlns:a="http://schemas.openxmlformats.org/drawingml/2006/main" x="514350" y="1543050"/>
          <a:ext xmlns:a="http://schemas.openxmlformats.org/drawingml/2006/main" cx="111633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438650"/>
                <a:gridCol w="4438650"/>
              </a:tblGrid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Critère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SonarQube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ESLint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Périmètre observé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Java et frontal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TypeScript et HTML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Résultat principal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Signalements et couverture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Règles et localisations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Lecture utile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Suivi global de qualité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Retour local précis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Complémentarité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Vue de projet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Contrôle du frontal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148CF-50BA-4834-8052-DD50F28C3A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be13ba4304595"/>
          <a:stretch xmlns:a="http://schemas.openxmlformats.org/drawingml/2006/main"/>
        </p:blipFill>
        <p:spPr>
          <a:xfrm xmlns:a="http://schemas.openxmlformats.org/drawingml/2006/main">
            <a:off x="2147627" y="4648200"/>
            <a:ext cx="2019822" cy="1143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640EC-CBFE-4365-9E78-FF2DA3C525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c22542f0e479f"/>
          <a:stretch xmlns:a="http://schemas.openxmlformats.org/drawingml/2006/main"/>
        </p:blipFill>
        <p:spPr>
          <a:xfrm xmlns:a="http://schemas.openxmlformats.org/drawingml/2006/main">
            <a:off x="7651712" y="4648200"/>
            <a:ext cx="2746450" cy="114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A13EE-84A2-47F9-A644-DD6B3081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Les nombres de constats ne sont pas comparables entre ces deux périmètres.</a:t>
            </a:r>
          </a:p>
        </p:txBody>
      </p:sp>
    </p:spTree>
    <p:extLst>
      <p:ext uri="{BB962C8B-B14F-4D97-AF65-F5344CB8AC3E}">
        <p14:creationId xmlns:p14="http://schemas.microsoft.com/office/powerpoint/2010/main" val="8091330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BB928-151E-4558-95C7-22F52CFE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INTERPRÉTATION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D4E32-1B42-445E-A8E5-31DCC9AB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Tests statiques et tests dynamiques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CF004-7D66-4EF3-B8A7-1CC8D461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68647-6E69-4ABD-9E8E-92D573A4E3CA}"/>
              </a:ext>
            </a:extLst>
          </p:cNvPr>
          <p:cNvGraphicFramePr/>
          <p:nvPr/>
        </p:nvGraphicFramePr>
        <p:xfrm>
          <a:off xmlns:a="http://schemas.openxmlformats.org/drawingml/2006/main" x="514350" y="1543050"/>
          <a:ext xmlns:a="http://schemas.openxmlformats.org/drawingml/2006/main" cx="111633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91025"/>
                <a:gridCol w="4391025"/>
              </a:tblGrid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Analyse statique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Exécution dynamique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Objet examiné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Structure du code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Comportement observé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Preuve Stayora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SonarQube, ESLint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HTTP/SQL et Chrome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Exemple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no-console à la ligne 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Code privé dans la réponse IA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Limite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Comportement métier non prouvé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Scénarios et données essayés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70085-E1B5-4021-9638-B472AC8735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7369d548c4089"/>
          <a:stretch xmlns:a="http://schemas.openxmlformats.org/drawingml/2006/main"/>
        </p:blipFill>
        <p:spPr>
          <a:xfrm xmlns:a="http://schemas.openxmlformats.org/drawingml/2006/main">
            <a:off x="1784312" y="4648200"/>
            <a:ext cx="2746450" cy="1143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B98D7-3955-4B59-8614-A159AEF216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f3a51de144ab7"/>
          <a:stretch xmlns:a="http://schemas.openxmlformats.org/drawingml/2006/main"/>
        </p:blipFill>
        <p:spPr>
          <a:xfrm xmlns:a="http://schemas.openxmlformats.org/drawingml/2006/main">
            <a:off x="8104726" y="4648200"/>
            <a:ext cx="1840424" cy="114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D5AF7-E4B0-466F-88D8-464B4E5F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Les contrôles statiques et les scénarios exécutés apportent des preuves différentes.</a:t>
            </a:r>
          </a:p>
        </p:txBody>
      </p:sp>
    </p:spTree>
    <p:extLst>
      <p:ext uri="{BB962C8B-B14F-4D97-AF65-F5344CB8AC3E}">
        <p14:creationId xmlns:p14="http://schemas.microsoft.com/office/powerpoint/2010/main" val="5765758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29DEE-4595-4CDA-9C58-D54CAD86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59BF7-2C08-4AB3-A387-7E96F016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Bilan et priorités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C60B7-C9C1-4AD4-B9D9-637B7400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510AD-66D1-4E04-A072-5C3FB753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Xray</a:t>
            </a:r>
          </a:p>
          <a:p xmlns:a="http://schemas.openxmlformats.org/drawingml/2006/main">
            <a:pPr>
              <a:defRPr sz="247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72 PASSED / 1 FAILED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D5C71-23A5-4C2E-B94B-FE4C349D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81325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ESLint</a:t>
            </a:r>
          </a:p>
          <a:p xmlns:a="http://schemas.openxmlformats.org/drawingml/2006/main">
            <a:pPr>
              <a:defRPr sz="23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 erreur / 1 avertissement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CCC39-231B-4CD0-B706-B2BB3046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Priorité de suivi</a:t>
            </a:r>
          </a:p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Corriger STAY-48 puis rejouer</a:t>
            </a:r>
          </a:p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les tests IA et confidentialité.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94DEE-0B67-480B-AB01-3533111F5C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03815158a4737"/>
          <a:stretch xmlns:a="http://schemas.openxmlformats.org/drawingml/2006/main"/>
        </p:blipFill>
        <p:spPr>
          <a:xfrm xmlns:a="http://schemas.openxmlformats.org/drawingml/2006/main">
            <a:off x="6096000" y="1905301"/>
            <a:ext cx="5581650" cy="346649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622FB-7EF9-49FF-BA09-94C4EFA0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Campagne exécutée. Conformité complète à confirmer après correction et retest.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6C411-F8FC-4CB5-961C-467DC357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99798cfd01f741dc"/>
              </a:rPr>
              <a:t>Défaut STAY-48 et preuves de reproduction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4710075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C684F-4076-4325-85D4-BFA55236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DÉMONSTRATION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F93AF-8E0F-4B1D-8D54-2654C0AD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Liens de consultation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EEFF7-9F06-4B9D-8671-890D900D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ED39B-3ECD-4F9C-869A-CC89C1DE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859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942110d07bed4d95"/>
              </a:rPr>
              <a:t>Tableau Jira STAY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B2686-4FA7-4B45-89C5-29C625DB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a1a778bd71844823"/>
              </a:rPr>
              <a:t>Tableau de tests Xray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BFC3C-D748-4786-8FED-1FEB3B90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860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de53a072b2404722"/>
              </a:rPr>
              <a:t>Plan de tests STAY-46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A4331-13A3-4978-B244-8A1E85D5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6cfab7d951774373"/>
              </a:rPr>
              <a:t>Suite de tests STAY-45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55C4A-64D5-4CEC-9E9E-290F8B4D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62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75982d9f915945ec"/>
              </a:rPr>
              <a:t>Exécution STAY-47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07395-B808-4806-B432-2CC478489B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06020e2c34662"/>
          <a:stretch xmlns:a="http://schemas.openxmlformats.org/drawingml/2006/main"/>
        </p:blipFill>
        <p:spPr>
          <a:xfrm xmlns:a="http://schemas.openxmlformats.org/drawingml/2006/main">
            <a:off x="6096000" y="1803944"/>
            <a:ext cx="5581650" cy="340251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1FD71-D4C6-484F-8641-59ADFB27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Connexion Jira requise. Les captures rendent la présentation consultable hors ligne.</a:t>
            </a:r>
          </a:p>
        </p:txBody>
      </p:sp>
    </p:spTree>
    <p:extLst>
      <p:ext uri="{BB962C8B-B14F-4D97-AF65-F5344CB8AC3E}">
        <p14:creationId xmlns:p14="http://schemas.microsoft.com/office/powerpoint/2010/main" val="593123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2026-10-17T20:23:27.9680000Z</dcterms:created>
  <dcterms:modified xsi:type="dcterms:W3CDTF">2026-10-17T20:23:27.9680000Z</dcterms:modified>
</coreProperties>
</file>